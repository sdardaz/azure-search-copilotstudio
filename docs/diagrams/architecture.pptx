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d'architecture technique du pipeline d'ingestion. Le flux principal va de gauche à droite : SharePoint → Logic Apps → Blob Storage → indexeur Azure AI Search → index → Copilot Studio → utilisateur. Le skillset (compétences sur Azure Functions) est exécuté par l'indexeur et s'appuie sur les services IA managés. Les cadres pointillés gris sont les emplacements réservés aux logos officiels des produits.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Détail des 11 étapes numérotées du schéma d'architecture, avec la justification de chaque choix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transverse : sécurité, réseau, observabilité, robustesse de la synchronisation et modalités de déploiement.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9144000" cy="310896"/>
          </a:xfrm>
          <a:prstGeom prst="rect">
            <a:avLst/>
          </a:prstGeom>
          <a:noFill/>
          <a:ln/>
        </p:spPr>
        <p:txBody>
          <a:bodyPr wrap="square" lIns="0" tIns="0" rIns="0" bIns="0" rtlCol="0" anchor="ctr"/>
          <a:lstStyle/>
          <a:p>
            <a:pPr algn="l" indent="0" marL="0">
              <a:buNone/>
            </a:pPr>
            <a:r>
              <a:rPr lang="en-US" sz="1900" b="1" dirty="0">
                <a:solidFill>
                  <a:srgbClr val="243A5E"/>
                </a:solidFill>
                <a:latin typeface="Segoe UI" pitchFamily="34" charset="0"/>
                <a:ea typeface="Segoe UI" pitchFamily="34" charset="-122"/>
                <a:cs typeface="Segoe UI" pitchFamily="34" charset="-120"/>
              </a:rPr>
              <a:t>Pipeline d'ingestion documentaire pour Microsoft Copilot Studio</a:t>
            </a:r>
            <a:endParaRPr lang="en-US" sz="1900" dirty="0"/>
          </a:p>
        </p:txBody>
      </p:sp>
      <p:sp>
        <p:nvSpPr>
          <p:cNvPr id="3" name="Text 1"/>
          <p:cNvSpPr/>
          <p:nvPr/>
        </p:nvSpPr>
        <p:spPr>
          <a:xfrm>
            <a:off x="320040" y="530352"/>
            <a:ext cx="10607040" cy="201168"/>
          </a:xfrm>
          <a:prstGeom prst="rect">
            <a:avLst/>
          </a:prstGeom>
          <a:noFill/>
          <a:ln/>
        </p:spPr>
        <p:txBody>
          <a:bodyPr wrap="square" lIns="0" tIns="0" rIns="0" bIns="0" rtlCol="0" anchor="ctr"/>
          <a:lstStyle/>
          <a:p>
            <a:pPr algn="l" indent="0" marL="0">
              <a:buNone/>
            </a:pPr>
            <a:r>
              <a:rPr lang="en-US" sz="900" dirty="0">
                <a:solidFill>
                  <a:srgbClr val="605E5C"/>
                </a:solidFill>
                <a:latin typeface="Segoe UI" pitchFamily="34" charset="0"/>
                <a:ea typeface="Segoe UI" pitchFamily="34" charset="-122"/>
                <a:cs typeface="Segoe UI" pitchFamily="34" charset="-120"/>
              </a:rPr>
              <a:t>Architecture technique — indexation dans Azure AI Search, consommée par le connecteur natif « Azure AI Search » de Microsoft Copilot Studio</a:t>
            </a:r>
            <a:endParaRPr lang="en-US" sz="900" dirty="0"/>
          </a:p>
        </p:txBody>
      </p:sp>
      <p:sp>
        <p:nvSpPr>
          <p:cNvPr id="4" name="Text 2"/>
          <p:cNvSpPr/>
          <p:nvPr/>
        </p:nvSpPr>
        <p:spPr>
          <a:xfrm>
            <a:off x="9555480" y="237744"/>
            <a:ext cx="1645920" cy="201168"/>
          </a:xfrm>
          <a:prstGeom prst="rect">
            <a:avLst/>
          </a:prstGeom>
          <a:noFill/>
          <a:ln/>
        </p:spPr>
        <p:txBody>
          <a:bodyPr wrap="square" lIns="0" tIns="0" rIns="0" bIns="0" rtlCol="0" anchor="ctr"/>
          <a:lstStyle/>
          <a:p>
            <a:pPr algn="r" indent="0" marL="0">
              <a:buNone/>
            </a:pPr>
            <a:r>
              <a:rPr lang="en-US" sz="750" dirty="0">
                <a:solidFill>
                  <a:srgbClr val="8A8886"/>
                </a:solidFill>
                <a:latin typeface="Segoe UI" pitchFamily="34" charset="0"/>
                <a:ea typeface="Segoe UI" pitchFamily="34" charset="-122"/>
                <a:cs typeface="Segoe UI" pitchFamily="34" charset="-120"/>
              </a:rPr>
              <a:t>Soufyane Dardaz  ·  v2.0</a:t>
            </a:r>
            <a:endParaRPr lang="en-US" sz="750" dirty="0"/>
          </a:p>
        </p:txBody>
      </p:sp>
      <p:sp>
        <p:nvSpPr>
          <p:cNvPr id="5" name="Shape 3"/>
          <p:cNvSpPr/>
          <p:nvPr/>
        </p:nvSpPr>
        <p:spPr>
          <a:xfrm>
            <a:off x="11292840" y="219456"/>
            <a:ext cx="548640" cy="548640"/>
          </a:xfrm>
          <a:prstGeom prst="roundRect">
            <a:avLst>
              <a:gd name="adj" fmla="val 5000"/>
            </a:avLst>
          </a:prstGeom>
          <a:solidFill>
            <a:srgbClr val="F3F2F1"/>
          </a:solidFill>
          <a:ln w="9525">
            <a:solidFill>
              <a:srgbClr val="B3B3B3"/>
            </a:solidFill>
            <a:prstDash val="dash"/>
          </a:ln>
        </p:spPr>
      </p:sp>
      <p:sp>
        <p:nvSpPr>
          <p:cNvPr id="6" name="Text 4"/>
          <p:cNvSpPr/>
          <p:nvPr/>
        </p:nvSpPr>
        <p:spPr>
          <a:xfrm>
            <a:off x="11292840" y="219456"/>
            <a:ext cx="548640" cy="548640"/>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a:p>
            <a:pPr algn="ctr" indent="0" marL="0">
              <a:buNone/>
            </a:pPr>
            <a:r>
              <a:rPr lang="en-US" sz="450" dirty="0">
                <a:solidFill>
                  <a:srgbClr val="8A8886"/>
                </a:solidFill>
                <a:latin typeface="Segoe UI" pitchFamily="34" charset="0"/>
                <a:ea typeface="Segoe UI" pitchFamily="34" charset="-122"/>
                <a:cs typeface="Segoe UI" pitchFamily="34" charset="-120"/>
              </a:rPr>
              <a:t>ORG</a:t>
            </a:r>
            <a:endParaRPr lang="en-US" sz="450" dirty="0"/>
          </a:p>
        </p:txBody>
      </p:sp>
      <p:sp>
        <p:nvSpPr>
          <p:cNvPr id="7" name="Shape 5"/>
          <p:cNvSpPr/>
          <p:nvPr/>
        </p:nvSpPr>
        <p:spPr>
          <a:xfrm>
            <a:off x="320040" y="960120"/>
            <a:ext cx="1783080" cy="2395728"/>
          </a:xfrm>
          <a:prstGeom prst="roundRect">
            <a:avLst>
              <a:gd name="adj" fmla="val 1026"/>
            </a:avLst>
          </a:prstGeom>
          <a:solidFill>
            <a:srgbClr val="FAFAFA"/>
          </a:solidFill>
          <a:ln w="15875">
            <a:solidFill>
              <a:srgbClr val="605E5C"/>
            </a:solidFill>
            <a:prstDash val="dash"/>
          </a:ln>
        </p:spPr>
      </p:sp>
      <p:sp>
        <p:nvSpPr>
          <p:cNvPr id="8" name="Text 6"/>
          <p:cNvSpPr/>
          <p:nvPr/>
        </p:nvSpPr>
        <p:spPr>
          <a:xfrm>
            <a:off x="411480" y="992124"/>
            <a:ext cx="1600200" cy="182880"/>
          </a:xfrm>
          <a:prstGeom prst="rect">
            <a:avLst/>
          </a:prstGeom>
          <a:noFill/>
          <a:ln/>
        </p:spPr>
        <p:txBody>
          <a:bodyPr wrap="square" lIns="0" tIns="0" rIns="0" bIns="0" rtlCol="0" anchor="ctr"/>
          <a:lstStyle/>
          <a:p>
            <a:pPr algn="l" indent="0" marL="0">
              <a:buNone/>
            </a:pPr>
            <a:r>
              <a:rPr lang="en-US" sz="750" b="1" spc="60" kern="0" dirty="0">
                <a:solidFill>
                  <a:srgbClr val="605E5C"/>
                </a:solidFill>
                <a:latin typeface="Segoe UI" pitchFamily="34" charset="0"/>
                <a:ea typeface="Segoe UI" pitchFamily="34" charset="-122"/>
                <a:cs typeface="Segoe UI" pitchFamily="34" charset="-120"/>
              </a:rPr>
              <a:t>SOURCES</a:t>
            </a:r>
            <a:endParaRPr lang="en-US" sz="750" dirty="0"/>
          </a:p>
        </p:txBody>
      </p:sp>
      <p:sp>
        <p:nvSpPr>
          <p:cNvPr id="9" name="Shape 7"/>
          <p:cNvSpPr/>
          <p:nvPr/>
        </p:nvSpPr>
        <p:spPr>
          <a:xfrm>
            <a:off x="2240280" y="960120"/>
            <a:ext cx="7699248" cy="4892040"/>
          </a:xfrm>
          <a:prstGeom prst="roundRect">
            <a:avLst>
              <a:gd name="adj" fmla="val 374"/>
            </a:avLst>
          </a:prstGeom>
          <a:solidFill>
            <a:srgbClr val="F3F9FD"/>
          </a:solidFill>
          <a:ln w="15875">
            <a:solidFill>
              <a:srgbClr val="0078D4"/>
            </a:solidFill>
            <a:prstDash val="dash"/>
          </a:ln>
        </p:spPr>
      </p:sp>
      <p:sp>
        <p:nvSpPr>
          <p:cNvPr id="10" name="Text 8"/>
          <p:cNvSpPr/>
          <p:nvPr/>
        </p:nvSpPr>
        <p:spPr>
          <a:xfrm>
            <a:off x="2331720" y="992124"/>
            <a:ext cx="7516368" cy="182880"/>
          </a:xfrm>
          <a:prstGeom prst="rect">
            <a:avLst/>
          </a:prstGeom>
          <a:noFill/>
          <a:ln/>
        </p:spPr>
        <p:txBody>
          <a:bodyPr wrap="square" lIns="0" tIns="0" rIns="0" bIns="0" rtlCol="0" anchor="ctr"/>
          <a:lstStyle/>
          <a:p>
            <a:pPr algn="l" indent="0" marL="0">
              <a:buNone/>
            </a:pPr>
            <a:r>
              <a:rPr lang="en-US" sz="750" b="1" spc="60" kern="0" dirty="0">
                <a:solidFill>
                  <a:srgbClr val="0078D4"/>
                </a:solidFill>
                <a:latin typeface="Segoe UI" pitchFamily="34" charset="0"/>
                <a:ea typeface="Segoe UI" pitchFamily="34" charset="-122"/>
                <a:cs typeface="Segoe UI" pitchFamily="34" charset="-120"/>
              </a:rPr>
              <a:t>MICROSOFT AZURE  —  abonnement / groupe de ressources</a:t>
            </a:r>
            <a:endParaRPr lang="en-US" sz="750" dirty="0"/>
          </a:p>
        </p:txBody>
      </p:sp>
      <p:sp>
        <p:nvSpPr>
          <p:cNvPr id="11" name="Text 9"/>
          <p:cNvSpPr/>
          <p:nvPr/>
        </p:nvSpPr>
        <p:spPr>
          <a:xfrm>
            <a:off x="2331720" y="1161288"/>
            <a:ext cx="7516368" cy="155448"/>
          </a:xfrm>
          <a:prstGeom prst="rect">
            <a:avLst/>
          </a:prstGeom>
          <a:noFill/>
          <a:ln/>
        </p:spPr>
        <p:txBody>
          <a:bodyPr wrap="square" lIns="0" tIns="0" rIns="0" bIns="0" rtlCol="0" anchor="ctr"/>
          <a:lstStyle/>
          <a:p>
            <a:pPr algn="l" indent="0" marL="0">
              <a:buNone/>
            </a:pPr>
            <a:r>
              <a:rPr lang="en-US" sz="650" i="1" dirty="0">
                <a:solidFill>
                  <a:srgbClr val="605E5C"/>
                </a:solidFill>
                <a:latin typeface="Segoe UI" pitchFamily="34" charset="0"/>
                <a:ea typeface="Segoe UI" pitchFamily="34" charset="-122"/>
                <a:cs typeface="Segoe UI" pitchFamily="34" charset="-120"/>
              </a:rPr>
              <a:t>identités managées · Azure RBAC · authentification locale désactivée</a:t>
            </a:r>
            <a:endParaRPr lang="en-US" sz="650" dirty="0"/>
          </a:p>
        </p:txBody>
      </p:sp>
      <p:sp>
        <p:nvSpPr>
          <p:cNvPr id="12" name="Shape 10"/>
          <p:cNvSpPr/>
          <p:nvPr/>
        </p:nvSpPr>
        <p:spPr>
          <a:xfrm>
            <a:off x="10076688" y="1234440"/>
            <a:ext cx="1792224" cy="1298448"/>
          </a:xfrm>
          <a:prstGeom prst="roundRect">
            <a:avLst>
              <a:gd name="adj" fmla="val 1408"/>
            </a:avLst>
          </a:prstGeom>
          <a:solidFill>
            <a:srgbClr val="F1F8F4"/>
          </a:solidFill>
          <a:ln w="15875">
            <a:solidFill>
              <a:srgbClr val="107C41"/>
            </a:solidFill>
            <a:prstDash val="dash"/>
          </a:ln>
        </p:spPr>
      </p:sp>
      <p:sp>
        <p:nvSpPr>
          <p:cNvPr id="13" name="Text 11"/>
          <p:cNvSpPr/>
          <p:nvPr/>
        </p:nvSpPr>
        <p:spPr>
          <a:xfrm>
            <a:off x="10168128" y="1266444"/>
            <a:ext cx="1609344" cy="182880"/>
          </a:xfrm>
          <a:prstGeom prst="rect">
            <a:avLst/>
          </a:prstGeom>
          <a:noFill/>
          <a:ln/>
        </p:spPr>
        <p:txBody>
          <a:bodyPr wrap="square" lIns="0" tIns="0" rIns="0" bIns="0" rtlCol="0" anchor="ctr"/>
          <a:lstStyle/>
          <a:p>
            <a:pPr algn="l" indent="0" marL="0">
              <a:buNone/>
            </a:pPr>
            <a:r>
              <a:rPr lang="en-US" sz="650" b="1" spc="60" kern="0" dirty="0">
                <a:solidFill>
                  <a:srgbClr val="107C41"/>
                </a:solidFill>
                <a:latin typeface="Segoe UI" pitchFamily="34" charset="0"/>
                <a:ea typeface="Segoe UI" pitchFamily="34" charset="-122"/>
                <a:cs typeface="Segoe UI" pitchFamily="34" charset="-120"/>
              </a:rPr>
              <a:t>POWER PLATFORM</a:t>
            </a:r>
            <a:endParaRPr lang="en-US" sz="650" dirty="0"/>
          </a:p>
        </p:txBody>
      </p:sp>
      <p:sp>
        <p:nvSpPr>
          <p:cNvPr id="14" name="Shape 12"/>
          <p:cNvSpPr/>
          <p:nvPr/>
        </p:nvSpPr>
        <p:spPr>
          <a:xfrm>
            <a:off x="420624" y="1554480"/>
            <a:ext cx="1581912" cy="804672"/>
          </a:xfrm>
          <a:prstGeom prst="roundRect">
            <a:avLst>
              <a:gd name="adj" fmla="val 4545"/>
            </a:avLst>
          </a:prstGeom>
          <a:solidFill>
            <a:srgbClr val="FFFFFF"/>
          </a:solidFill>
          <a:ln w="12700">
            <a:solidFill>
              <a:srgbClr val="605E5C"/>
            </a:solidFill>
            <a:prstDash val="solid"/>
          </a:ln>
          <a:effectLst>
            <a:outerShdw sx="100000" sy="100000" kx="0" ky="0" algn="bl" rotWithShape="0" blurRad="50800" dist="12700" dir="5400000">
              <a:srgbClr val="000000">
                <a:alpha val="13000"/>
              </a:srgbClr>
            </a:outerShdw>
          </a:effectLst>
        </p:spPr>
      </p:sp>
      <p:sp>
        <p:nvSpPr>
          <p:cNvPr id="15" name="Shape 13"/>
          <p:cNvSpPr/>
          <p:nvPr/>
        </p:nvSpPr>
        <p:spPr>
          <a:xfrm>
            <a:off x="489204" y="1623060"/>
            <a:ext cx="237744" cy="237744"/>
          </a:xfrm>
          <a:prstGeom prst="roundRect">
            <a:avLst>
              <a:gd name="adj" fmla="val 11538"/>
            </a:avLst>
          </a:prstGeom>
          <a:solidFill>
            <a:srgbClr val="F3F2F1"/>
          </a:solidFill>
          <a:ln w="9525">
            <a:solidFill>
              <a:srgbClr val="B3B3B3"/>
            </a:solidFill>
            <a:prstDash val="dash"/>
          </a:ln>
        </p:spPr>
      </p:sp>
      <p:sp>
        <p:nvSpPr>
          <p:cNvPr id="16" name="Text 14"/>
          <p:cNvSpPr/>
          <p:nvPr/>
        </p:nvSpPr>
        <p:spPr>
          <a:xfrm>
            <a:off x="489204" y="1623060"/>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7" name="Text 15"/>
          <p:cNvSpPr/>
          <p:nvPr/>
        </p:nvSpPr>
        <p:spPr>
          <a:xfrm>
            <a:off x="790956" y="1595628"/>
            <a:ext cx="1147572"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SharePoint dans Microsoft 365</a:t>
            </a:r>
            <a:endParaRPr lang="en-US" sz="850" dirty="0"/>
          </a:p>
        </p:txBody>
      </p:sp>
      <p:sp>
        <p:nvSpPr>
          <p:cNvPr id="18" name="Text 16"/>
          <p:cNvSpPr/>
          <p:nvPr/>
        </p:nvSpPr>
        <p:spPr>
          <a:xfrm>
            <a:off x="498348" y="1929384"/>
            <a:ext cx="1426464"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Bibliothèque de documents,</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source de vérité métier</a:t>
            </a:r>
            <a:endParaRPr lang="en-US" sz="650" dirty="0"/>
          </a:p>
        </p:txBody>
      </p:sp>
      <p:sp>
        <p:nvSpPr>
          <p:cNvPr id="19" name="Shape 17"/>
          <p:cNvSpPr/>
          <p:nvPr/>
        </p:nvSpPr>
        <p:spPr>
          <a:xfrm>
            <a:off x="310896" y="1444752"/>
            <a:ext cx="210312" cy="210312"/>
          </a:xfrm>
          <a:prstGeom prst="ellipse">
            <a:avLst/>
          </a:prstGeom>
          <a:solidFill>
            <a:srgbClr val="0078D4"/>
          </a:solidFill>
          <a:ln w="15875">
            <a:solidFill>
              <a:srgbClr val="FFFFFF"/>
            </a:solidFill>
            <a:prstDash val="solid"/>
          </a:ln>
        </p:spPr>
      </p:sp>
      <p:sp>
        <p:nvSpPr>
          <p:cNvPr id="20" name="Text 18"/>
          <p:cNvSpPr/>
          <p:nvPr/>
        </p:nvSpPr>
        <p:spPr>
          <a:xfrm>
            <a:off x="310896"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1</a:t>
            </a:r>
            <a:endParaRPr lang="en-US" sz="700" dirty="0"/>
          </a:p>
        </p:txBody>
      </p:sp>
      <p:sp>
        <p:nvSpPr>
          <p:cNvPr id="21" name="Shape 19"/>
          <p:cNvSpPr/>
          <p:nvPr/>
        </p:nvSpPr>
        <p:spPr>
          <a:xfrm>
            <a:off x="420624" y="2487168"/>
            <a:ext cx="1581912" cy="731520"/>
          </a:xfrm>
          <a:prstGeom prst="roundRect">
            <a:avLst>
              <a:gd name="adj" fmla="val 5000"/>
            </a:avLst>
          </a:prstGeom>
          <a:solidFill>
            <a:srgbClr val="FFFFFF"/>
          </a:solidFill>
          <a:ln w="12700">
            <a:solidFill>
              <a:srgbClr val="605E5C"/>
            </a:solidFill>
            <a:prstDash val="solid"/>
          </a:ln>
          <a:effectLst>
            <a:outerShdw sx="100000" sy="100000" kx="0" ky="0" algn="bl" rotWithShape="0" blurRad="50800" dist="12700" dir="5400000">
              <a:srgbClr val="000000">
                <a:alpha val="13000"/>
              </a:srgbClr>
            </a:outerShdw>
          </a:effectLst>
        </p:spPr>
      </p:sp>
      <p:sp>
        <p:nvSpPr>
          <p:cNvPr id="22" name="Shape 20"/>
          <p:cNvSpPr/>
          <p:nvPr/>
        </p:nvSpPr>
        <p:spPr>
          <a:xfrm>
            <a:off x="489204" y="2555748"/>
            <a:ext cx="237744" cy="237744"/>
          </a:xfrm>
          <a:prstGeom prst="roundRect">
            <a:avLst>
              <a:gd name="adj" fmla="val 11538"/>
            </a:avLst>
          </a:prstGeom>
          <a:solidFill>
            <a:srgbClr val="F3F2F1"/>
          </a:solidFill>
          <a:ln w="9525">
            <a:solidFill>
              <a:srgbClr val="B3B3B3"/>
            </a:solidFill>
            <a:prstDash val="dash"/>
          </a:ln>
        </p:spPr>
      </p:sp>
      <p:sp>
        <p:nvSpPr>
          <p:cNvPr id="23" name="Text 21"/>
          <p:cNvSpPr/>
          <p:nvPr/>
        </p:nvSpPr>
        <p:spPr>
          <a:xfrm>
            <a:off x="489204" y="2555748"/>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24" name="Text 22"/>
          <p:cNvSpPr/>
          <p:nvPr/>
        </p:nvSpPr>
        <p:spPr>
          <a:xfrm>
            <a:off x="790956" y="2528316"/>
            <a:ext cx="1147572" cy="292608"/>
          </a:xfrm>
          <a:prstGeom prst="rect">
            <a:avLst/>
          </a:prstGeom>
          <a:noFill/>
          <a:ln/>
        </p:spPr>
        <p:txBody>
          <a:bodyPr wrap="square" lIns="0" tIns="0" rIns="0" bIns="0" rtlCol="0" anchor="ctr"/>
          <a:lstStyle/>
          <a:p>
            <a:pPr algn="l" indent="0" marL="0">
              <a:lnSpc>
                <a:spcPct val="85000"/>
              </a:lnSpc>
              <a:buNone/>
            </a:pPr>
            <a:r>
              <a:rPr lang="en-US" sz="750" b="1" dirty="0">
                <a:solidFill>
                  <a:srgbClr val="243A5E"/>
                </a:solidFill>
                <a:latin typeface="Segoe UI" pitchFamily="34" charset="0"/>
                <a:ea typeface="Segoe UI" pitchFamily="34" charset="-122"/>
                <a:cs typeface="Segoe UI" pitchFamily="34" charset="-120"/>
              </a:rPr>
              <a:t>Fichiers locaux · ./data</a:t>
            </a:r>
            <a:endParaRPr lang="en-US" sz="750" dirty="0"/>
          </a:p>
        </p:txBody>
      </p:sp>
      <p:sp>
        <p:nvSpPr>
          <p:cNvPr id="25" name="Text 23"/>
          <p:cNvSpPr/>
          <p:nvPr/>
        </p:nvSpPr>
        <p:spPr>
          <a:xfrm>
            <a:off x="498348" y="2862072"/>
            <a:ext cx="1426464" cy="310896"/>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Ingestion ponctuelle (CLI)</a:t>
            </a:r>
            <a:endParaRPr lang="en-US" sz="650" dirty="0"/>
          </a:p>
        </p:txBody>
      </p:sp>
      <p:sp>
        <p:nvSpPr>
          <p:cNvPr id="26" name="Shape 24"/>
          <p:cNvSpPr/>
          <p:nvPr/>
        </p:nvSpPr>
        <p:spPr>
          <a:xfrm>
            <a:off x="2350008"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27" name="Shape 25"/>
          <p:cNvSpPr/>
          <p:nvPr/>
        </p:nvSpPr>
        <p:spPr>
          <a:xfrm>
            <a:off x="2418588" y="1623060"/>
            <a:ext cx="237744" cy="237744"/>
          </a:xfrm>
          <a:prstGeom prst="roundRect">
            <a:avLst>
              <a:gd name="adj" fmla="val 11538"/>
            </a:avLst>
          </a:prstGeom>
          <a:solidFill>
            <a:srgbClr val="F3F2F1"/>
          </a:solidFill>
          <a:ln w="9525">
            <a:solidFill>
              <a:srgbClr val="B3B3B3"/>
            </a:solidFill>
            <a:prstDash val="dash"/>
          </a:ln>
        </p:spPr>
      </p:sp>
      <p:sp>
        <p:nvSpPr>
          <p:cNvPr id="28" name="Text 26"/>
          <p:cNvSpPr/>
          <p:nvPr/>
        </p:nvSpPr>
        <p:spPr>
          <a:xfrm>
            <a:off x="2418588" y="1623060"/>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29" name="Text 27"/>
          <p:cNvSpPr/>
          <p:nvPr/>
        </p:nvSpPr>
        <p:spPr>
          <a:xfrm>
            <a:off x="2720340"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Logic Apps</a:t>
            </a:r>
            <a:endParaRPr lang="en-US" sz="850" dirty="0"/>
          </a:p>
        </p:txBody>
      </p:sp>
      <p:sp>
        <p:nvSpPr>
          <p:cNvPr id="30" name="Text 28"/>
          <p:cNvSpPr/>
          <p:nvPr/>
        </p:nvSpPr>
        <p:spPr>
          <a:xfrm>
            <a:off x="2427732"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Consommation · déclencheur</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récurrent (15 min par défaut)</a:t>
            </a:r>
            <a:endParaRPr lang="en-US" sz="650" dirty="0"/>
          </a:p>
        </p:txBody>
      </p:sp>
      <p:sp>
        <p:nvSpPr>
          <p:cNvPr id="31" name="Shape 29"/>
          <p:cNvSpPr/>
          <p:nvPr/>
        </p:nvSpPr>
        <p:spPr>
          <a:xfrm>
            <a:off x="2240280" y="1444752"/>
            <a:ext cx="210312" cy="210312"/>
          </a:xfrm>
          <a:prstGeom prst="ellipse">
            <a:avLst/>
          </a:prstGeom>
          <a:solidFill>
            <a:srgbClr val="0078D4"/>
          </a:solidFill>
          <a:ln w="15875">
            <a:solidFill>
              <a:srgbClr val="FFFFFF"/>
            </a:solidFill>
            <a:prstDash val="solid"/>
          </a:ln>
        </p:spPr>
      </p:sp>
      <p:sp>
        <p:nvSpPr>
          <p:cNvPr id="32" name="Text 30"/>
          <p:cNvSpPr/>
          <p:nvPr/>
        </p:nvSpPr>
        <p:spPr>
          <a:xfrm>
            <a:off x="2240280"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2</a:t>
            </a:r>
            <a:endParaRPr lang="en-US" sz="700" dirty="0"/>
          </a:p>
        </p:txBody>
      </p:sp>
      <p:sp>
        <p:nvSpPr>
          <p:cNvPr id="33" name="Shape 31"/>
          <p:cNvSpPr/>
          <p:nvPr/>
        </p:nvSpPr>
        <p:spPr>
          <a:xfrm>
            <a:off x="4302252"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34" name="Shape 32"/>
          <p:cNvSpPr/>
          <p:nvPr/>
        </p:nvSpPr>
        <p:spPr>
          <a:xfrm>
            <a:off x="4370832" y="1623060"/>
            <a:ext cx="237744" cy="237744"/>
          </a:xfrm>
          <a:prstGeom prst="roundRect">
            <a:avLst>
              <a:gd name="adj" fmla="val 11538"/>
            </a:avLst>
          </a:prstGeom>
          <a:solidFill>
            <a:srgbClr val="F3F2F1"/>
          </a:solidFill>
          <a:ln w="9525">
            <a:solidFill>
              <a:srgbClr val="B3B3B3"/>
            </a:solidFill>
            <a:prstDash val="dash"/>
          </a:ln>
        </p:spPr>
      </p:sp>
      <p:sp>
        <p:nvSpPr>
          <p:cNvPr id="35" name="Text 33"/>
          <p:cNvSpPr/>
          <p:nvPr/>
        </p:nvSpPr>
        <p:spPr>
          <a:xfrm>
            <a:off x="4370832" y="1623060"/>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36" name="Text 34"/>
          <p:cNvSpPr/>
          <p:nvPr/>
        </p:nvSpPr>
        <p:spPr>
          <a:xfrm>
            <a:off x="4672584"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Blob Storage</a:t>
            </a:r>
            <a:endParaRPr lang="en-US" sz="850" dirty="0"/>
          </a:p>
        </p:txBody>
      </p:sp>
      <p:sp>
        <p:nvSpPr>
          <p:cNvPr id="37" name="Text 35"/>
          <p:cNvSpPr/>
          <p:nvPr/>
        </p:nvSpPr>
        <p:spPr>
          <a:xfrm>
            <a:off x="4379976"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Conteneurs content + images</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zone d'atterrissage · soft-delete</a:t>
            </a:r>
            <a:endParaRPr lang="en-US" sz="650" dirty="0"/>
          </a:p>
        </p:txBody>
      </p:sp>
      <p:sp>
        <p:nvSpPr>
          <p:cNvPr id="38" name="Shape 36"/>
          <p:cNvSpPr/>
          <p:nvPr/>
        </p:nvSpPr>
        <p:spPr>
          <a:xfrm>
            <a:off x="4192524" y="1444752"/>
            <a:ext cx="210312" cy="210312"/>
          </a:xfrm>
          <a:prstGeom prst="ellipse">
            <a:avLst/>
          </a:prstGeom>
          <a:solidFill>
            <a:srgbClr val="0078D4"/>
          </a:solidFill>
          <a:ln w="15875">
            <a:solidFill>
              <a:srgbClr val="FFFFFF"/>
            </a:solidFill>
            <a:prstDash val="solid"/>
          </a:ln>
        </p:spPr>
      </p:sp>
      <p:sp>
        <p:nvSpPr>
          <p:cNvPr id="39" name="Text 37"/>
          <p:cNvSpPr/>
          <p:nvPr/>
        </p:nvSpPr>
        <p:spPr>
          <a:xfrm>
            <a:off x="4192524"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3</a:t>
            </a:r>
            <a:endParaRPr lang="en-US" sz="700" dirty="0"/>
          </a:p>
        </p:txBody>
      </p:sp>
      <p:sp>
        <p:nvSpPr>
          <p:cNvPr id="40" name="Shape 38"/>
          <p:cNvSpPr/>
          <p:nvPr/>
        </p:nvSpPr>
        <p:spPr>
          <a:xfrm>
            <a:off x="6254496"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41" name="Shape 39"/>
          <p:cNvSpPr/>
          <p:nvPr/>
        </p:nvSpPr>
        <p:spPr>
          <a:xfrm>
            <a:off x="6323076" y="1623060"/>
            <a:ext cx="237744" cy="237744"/>
          </a:xfrm>
          <a:prstGeom prst="roundRect">
            <a:avLst>
              <a:gd name="adj" fmla="val 11538"/>
            </a:avLst>
          </a:prstGeom>
          <a:solidFill>
            <a:srgbClr val="F3F2F1"/>
          </a:solidFill>
          <a:ln w="9525">
            <a:solidFill>
              <a:srgbClr val="B3B3B3"/>
            </a:solidFill>
            <a:prstDash val="dash"/>
          </a:ln>
        </p:spPr>
      </p:sp>
      <p:sp>
        <p:nvSpPr>
          <p:cNvPr id="42" name="Text 40"/>
          <p:cNvSpPr/>
          <p:nvPr/>
        </p:nvSpPr>
        <p:spPr>
          <a:xfrm>
            <a:off x="6323076" y="1623060"/>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43" name="Text 41"/>
          <p:cNvSpPr/>
          <p:nvPr/>
        </p:nvSpPr>
        <p:spPr>
          <a:xfrm>
            <a:off x="6624828"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AI Search — Indexeur</a:t>
            </a:r>
            <a:endParaRPr lang="en-US" sz="850" dirty="0"/>
          </a:p>
        </p:txBody>
      </p:sp>
      <p:sp>
        <p:nvSpPr>
          <p:cNvPr id="44" name="Text 42"/>
          <p:cNvSpPr/>
          <p:nvPr/>
        </p:nvSpPr>
        <p:spPr>
          <a:xfrm>
            <a:off x="6332220"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Planification, suivi des</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changements, relances, lots</a:t>
            </a:r>
            <a:endParaRPr lang="en-US" sz="650" dirty="0"/>
          </a:p>
        </p:txBody>
      </p:sp>
      <p:sp>
        <p:nvSpPr>
          <p:cNvPr id="45" name="Shape 43"/>
          <p:cNvSpPr/>
          <p:nvPr/>
        </p:nvSpPr>
        <p:spPr>
          <a:xfrm>
            <a:off x="6144768" y="1444752"/>
            <a:ext cx="210312" cy="210312"/>
          </a:xfrm>
          <a:prstGeom prst="ellipse">
            <a:avLst/>
          </a:prstGeom>
          <a:solidFill>
            <a:srgbClr val="0078D4"/>
          </a:solidFill>
          <a:ln w="15875">
            <a:solidFill>
              <a:srgbClr val="FFFFFF"/>
            </a:solidFill>
            <a:prstDash val="solid"/>
          </a:ln>
        </p:spPr>
      </p:sp>
      <p:sp>
        <p:nvSpPr>
          <p:cNvPr id="46" name="Text 44"/>
          <p:cNvSpPr/>
          <p:nvPr/>
        </p:nvSpPr>
        <p:spPr>
          <a:xfrm>
            <a:off x="6144768"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4</a:t>
            </a:r>
            <a:endParaRPr lang="en-US" sz="700" dirty="0"/>
          </a:p>
        </p:txBody>
      </p:sp>
      <p:sp>
        <p:nvSpPr>
          <p:cNvPr id="47" name="Shape 45"/>
          <p:cNvSpPr/>
          <p:nvPr/>
        </p:nvSpPr>
        <p:spPr>
          <a:xfrm>
            <a:off x="8206740" y="1554480"/>
            <a:ext cx="1623060" cy="804672"/>
          </a:xfrm>
          <a:prstGeom prst="roundRect">
            <a:avLst>
              <a:gd name="adj" fmla="val 45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48" name="Shape 46"/>
          <p:cNvSpPr/>
          <p:nvPr/>
        </p:nvSpPr>
        <p:spPr>
          <a:xfrm>
            <a:off x="8275320" y="1623060"/>
            <a:ext cx="237744" cy="237744"/>
          </a:xfrm>
          <a:prstGeom prst="roundRect">
            <a:avLst>
              <a:gd name="adj" fmla="val 11538"/>
            </a:avLst>
          </a:prstGeom>
          <a:solidFill>
            <a:srgbClr val="F3F2F1"/>
          </a:solidFill>
          <a:ln w="9525">
            <a:solidFill>
              <a:srgbClr val="B3B3B3"/>
            </a:solidFill>
            <a:prstDash val="dash"/>
          </a:ln>
        </p:spPr>
      </p:sp>
      <p:sp>
        <p:nvSpPr>
          <p:cNvPr id="49" name="Text 47"/>
          <p:cNvSpPr/>
          <p:nvPr/>
        </p:nvSpPr>
        <p:spPr>
          <a:xfrm>
            <a:off x="8275320" y="1623060"/>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50" name="Text 48"/>
          <p:cNvSpPr/>
          <p:nvPr/>
        </p:nvSpPr>
        <p:spPr>
          <a:xfrm>
            <a:off x="8577072" y="1595628"/>
            <a:ext cx="1188720"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Azure AI Search — Index</a:t>
            </a:r>
            <a:endParaRPr lang="en-US" sz="850" dirty="0"/>
          </a:p>
        </p:txBody>
      </p:sp>
      <p:sp>
        <p:nvSpPr>
          <p:cNvPr id="51" name="Text 49"/>
          <p:cNvSpPr/>
          <p:nvPr/>
        </p:nvSpPr>
        <p:spPr>
          <a:xfrm>
            <a:off x="8284464" y="1929384"/>
            <a:ext cx="1467612"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1 document d'index = 1 chunk</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hybride + ranker sémantique</a:t>
            </a:r>
            <a:endParaRPr lang="en-US" sz="650" dirty="0"/>
          </a:p>
        </p:txBody>
      </p:sp>
      <p:sp>
        <p:nvSpPr>
          <p:cNvPr id="52" name="Shape 50"/>
          <p:cNvSpPr/>
          <p:nvPr/>
        </p:nvSpPr>
        <p:spPr>
          <a:xfrm>
            <a:off x="8097012" y="1444752"/>
            <a:ext cx="210312" cy="210312"/>
          </a:xfrm>
          <a:prstGeom prst="ellipse">
            <a:avLst/>
          </a:prstGeom>
          <a:solidFill>
            <a:srgbClr val="0078D4"/>
          </a:solidFill>
          <a:ln w="15875">
            <a:solidFill>
              <a:srgbClr val="FFFFFF"/>
            </a:solidFill>
            <a:prstDash val="solid"/>
          </a:ln>
        </p:spPr>
      </p:sp>
      <p:sp>
        <p:nvSpPr>
          <p:cNvPr id="53" name="Text 51"/>
          <p:cNvSpPr/>
          <p:nvPr/>
        </p:nvSpPr>
        <p:spPr>
          <a:xfrm>
            <a:off x="8097012"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9</a:t>
            </a:r>
            <a:endParaRPr lang="en-US" sz="700" dirty="0"/>
          </a:p>
        </p:txBody>
      </p:sp>
      <p:sp>
        <p:nvSpPr>
          <p:cNvPr id="54" name="Shape 52"/>
          <p:cNvSpPr/>
          <p:nvPr/>
        </p:nvSpPr>
        <p:spPr>
          <a:xfrm>
            <a:off x="10177272" y="1554480"/>
            <a:ext cx="1591056" cy="804672"/>
          </a:xfrm>
          <a:prstGeom prst="roundRect">
            <a:avLst>
              <a:gd name="adj" fmla="val 4545"/>
            </a:avLst>
          </a:prstGeom>
          <a:solidFill>
            <a:srgbClr val="FFFFFF"/>
          </a:solidFill>
          <a:ln w="12700">
            <a:solidFill>
              <a:srgbClr val="107C41"/>
            </a:solidFill>
            <a:prstDash val="solid"/>
          </a:ln>
          <a:effectLst>
            <a:outerShdw sx="100000" sy="100000" kx="0" ky="0" algn="bl" rotWithShape="0" blurRad="50800" dist="12700" dir="5400000">
              <a:srgbClr val="000000">
                <a:alpha val="13000"/>
              </a:srgbClr>
            </a:outerShdw>
          </a:effectLst>
        </p:spPr>
      </p:sp>
      <p:sp>
        <p:nvSpPr>
          <p:cNvPr id="55" name="Shape 53"/>
          <p:cNvSpPr/>
          <p:nvPr/>
        </p:nvSpPr>
        <p:spPr>
          <a:xfrm>
            <a:off x="10245852" y="1623060"/>
            <a:ext cx="237744" cy="237744"/>
          </a:xfrm>
          <a:prstGeom prst="roundRect">
            <a:avLst>
              <a:gd name="adj" fmla="val 11538"/>
            </a:avLst>
          </a:prstGeom>
          <a:solidFill>
            <a:srgbClr val="F3F2F1"/>
          </a:solidFill>
          <a:ln w="9525">
            <a:solidFill>
              <a:srgbClr val="B3B3B3"/>
            </a:solidFill>
            <a:prstDash val="dash"/>
          </a:ln>
        </p:spPr>
      </p:sp>
      <p:sp>
        <p:nvSpPr>
          <p:cNvPr id="56" name="Text 54"/>
          <p:cNvSpPr/>
          <p:nvPr/>
        </p:nvSpPr>
        <p:spPr>
          <a:xfrm>
            <a:off x="10245852" y="1623060"/>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57" name="Text 55"/>
          <p:cNvSpPr/>
          <p:nvPr/>
        </p:nvSpPr>
        <p:spPr>
          <a:xfrm>
            <a:off x="10547604" y="1595628"/>
            <a:ext cx="1156716" cy="292608"/>
          </a:xfrm>
          <a:prstGeom prst="rect">
            <a:avLst/>
          </a:prstGeom>
          <a:noFill/>
          <a:ln/>
        </p:spPr>
        <p:txBody>
          <a:bodyPr wrap="square" lIns="0" tIns="0" rIns="0" bIns="0" rtlCol="0" anchor="ctr"/>
          <a:lstStyle/>
          <a:p>
            <a:pPr algn="l" indent="0" marL="0">
              <a:lnSpc>
                <a:spcPct val="85000"/>
              </a:lnSpc>
              <a:buNone/>
            </a:pPr>
            <a:r>
              <a:rPr lang="en-US" sz="850" b="1" dirty="0">
                <a:solidFill>
                  <a:srgbClr val="243A5E"/>
                </a:solidFill>
                <a:latin typeface="Segoe UI" pitchFamily="34" charset="0"/>
                <a:ea typeface="Segoe UI" pitchFamily="34" charset="-122"/>
                <a:cs typeface="Segoe UI" pitchFamily="34" charset="-120"/>
              </a:rPr>
              <a:t>Microsoft Copilot Studio</a:t>
            </a:r>
            <a:endParaRPr lang="en-US" sz="850" dirty="0"/>
          </a:p>
        </p:txBody>
      </p:sp>
      <p:sp>
        <p:nvSpPr>
          <p:cNvPr id="58" name="Text 56"/>
          <p:cNvSpPr/>
          <p:nvPr/>
        </p:nvSpPr>
        <p:spPr>
          <a:xfrm>
            <a:off x="10254996" y="1929384"/>
            <a:ext cx="1435608" cy="38404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Connaissances → connecteur</a:t>
            </a:r>
            <a:endParaRPr lang="en-US" sz="650" dirty="0"/>
          </a:p>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natif « Azure AI Search »</a:t>
            </a:r>
            <a:endParaRPr lang="en-US" sz="650" dirty="0"/>
          </a:p>
        </p:txBody>
      </p:sp>
      <p:sp>
        <p:nvSpPr>
          <p:cNvPr id="59" name="Shape 57"/>
          <p:cNvSpPr/>
          <p:nvPr/>
        </p:nvSpPr>
        <p:spPr>
          <a:xfrm>
            <a:off x="10067544" y="1444752"/>
            <a:ext cx="210312" cy="210312"/>
          </a:xfrm>
          <a:prstGeom prst="ellipse">
            <a:avLst/>
          </a:prstGeom>
          <a:solidFill>
            <a:srgbClr val="0078D4"/>
          </a:solidFill>
          <a:ln w="15875">
            <a:solidFill>
              <a:srgbClr val="FFFFFF"/>
            </a:solidFill>
            <a:prstDash val="solid"/>
          </a:ln>
        </p:spPr>
      </p:sp>
      <p:sp>
        <p:nvSpPr>
          <p:cNvPr id="60" name="Text 58"/>
          <p:cNvSpPr/>
          <p:nvPr/>
        </p:nvSpPr>
        <p:spPr>
          <a:xfrm>
            <a:off x="10067544" y="144475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10</a:t>
            </a:r>
            <a:endParaRPr lang="en-US" sz="700" dirty="0"/>
          </a:p>
        </p:txBody>
      </p:sp>
      <p:sp>
        <p:nvSpPr>
          <p:cNvPr id="61" name="Shape 59"/>
          <p:cNvSpPr/>
          <p:nvPr/>
        </p:nvSpPr>
        <p:spPr>
          <a:xfrm>
            <a:off x="10177272" y="2834640"/>
            <a:ext cx="1591056" cy="713232"/>
          </a:xfrm>
          <a:prstGeom prst="roundRect">
            <a:avLst>
              <a:gd name="adj" fmla="val 5128"/>
            </a:avLst>
          </a:prstGeom>
          <a:solidFill>
            <a:srgbClr val="FFFFFF"/>
          </a:solidFill>
          <a:ln w="12700">
            <a:solidFill>
              <a:srgbClr val="605E5C"/>
            </a:solidFill>
            <a:prstDash val="solid"/>
          </a:ln>
          <a:effectLst>
            <a:outerShdw sx="100000" sy="100000" kx="0" ky="0" algn="bl" rotWithShape="0" blurRad="50800" dist="12700" dir="5400000">
              <a:srgbClr val="000000">
                <a:alpha val="13000"/>
              </a:srgbClr>
            </a:outerShdw>
          </a:effectLst>
        </p:spPr>
      </p:sp>
      <p:sp>
        <p:nvSpPr>
          <p:cNvPr id="62" name="Shape 60"/>
          <p:cNvSpPr/>
          <p:nvPr/>
        </p:nvSpPr>
        <p:spPr>
          <a:xfrm>
            <a:off x="10245852" y="2903220"/>
            <a:ext cx="237744" cy="237744"/>
          </a:xfrm>
          <a:prstGeom prst="roundRect">
            <a:avLst>
              <a:gd name="adj" fmla="val 11538"/>
            </a:avLst>
          </a:prstGeom>
          <a:solidFill>
            <a:srgbClr val="F3F2F1"/>
          </a:solidFill>
          <a:ln w="9525">
            <a:solidFill>
              <a:srgbClr val="B3B3B3"/>
            </a:solidFill>
            <a:prstDash val="dash"/>
          </a:ln>
        </p:spPr>
      </p:sp>
      <p:sp>
        <p:nvSpPr>
          <p:cNvPr id="63" name="Text 61"/>
          <p:cNvSpPr/>
          <p:nvPr/>
        </p:nvSpPr>
        <p:spPr>
          <a:xfrm>
            <a:off x="10245852" y="2903220"/>
            <a:ext cx="237744" cy="237744"/>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64" name="Text 62"/>
          <p:cNvSpPr/>
          <p:nvPr/>
        </p:nvSpPr>
        <p:spPr>
          <a:xfrm>
            <a:off x="10547604" y="2875788"/>
            <a:ext cx="1156716" cy="292608"/>
          </a:xfrm>
          <a:prstGeom prst="rect">
            <a:avLst/>
          </a:prstGeom>
          <a:noFill/>
          <a:ln/>
        </p:spPr>
        <p:txBody>
          <a:bodyPr wrap="square" lIns="0" tIns="0" rIns="0" bIns="0" rtlCol="0" anchor="ctr"/>
          <a:lstStyle/>
          <a:p>
            <a:pPr algn="l" indent="0" marL="0">
              <a:lnSpc>
                <a:spcPct val="85000"/>
              </a:lnSpc>
              <a:buNone/>
            </a:pPr>
            <a:r>
              <a:rPr lang="en-US" sz="750" b="1" dirty="0">
                <a:solidFill>
                  <a:srgbClr val="243A5E"/>
                </a:solidFill>
                <a:latin typeface="Segoe UI" pitchFamily="34" charset="0"/>
                <a:ea typeface="Segoe UI" pitchFamily="34" charset="-122"/>
                <a:cs typeface="Segoe UI" pitchFamily="34" charset="-120"/>
              </a:rPr>
              <a:t>Utilisateur métier</a:t>
            </a:r>
            <a:endParaRPr lang="en-US" sz="750" dirty="0"/>
          </a:p>
        </p:txBody>
      </p:sp>
      <p:sp>
        <p:nvSpPr>
          <p:cNvPr id="65" name="Text 63"/>
          <p:cNvSpPr/>
          <p:nvPr/>
        </p:nvSpPr>
        <p:spPr>
          <a:xfrm>
            <a:off x="10254996" y="3209544"/>
            <a:ext cx="1435608" cy="292608"/>
          </a:xfrm>
          <a:prstGeom prst="rect">
            <a:avLst/>
          </a:prstGeom>
          <a:noFill/>
          <a:ln/>
        </p:spPr>
        <p:txBody>
          <a:bodyPr wrap="square" lIns="0" tIns="0" rIns="0" bIns="0" rtlCol="0" anchor="t"/>
          <a:lstStyle/>
          <a:p>
            <a:pPr algn="l" indent="0" marL="0">
              <a:lnSpc>
                <a:spcPct val="92000"/>
              </a:lnSpc>
              <a:buNone/>
            </a:pPr>
            <a:r>
              <a:rPr lang="en-US" sz="650" dirty="0">
                <a:solidFill>
                  <a:srgbClr val="605E5C"/>
                </a:solidFill>
                <a:latin typeface="Segoe UI" pitchFamily="34" charset="0"/>
                <a:ea typeface="Segoe UI" pitchFamily="34" charset="-122"/>
                <a:cs typeface="Segoe UI" pitchFamily="34" charset="-120"/>
              </a:rPr>
              <a:t>Microsoft Teams · web · M365</a:t>
            </a:r>
            <a:endParaRPr lang="en-US" sz="650" dirty="0"/>
          </a:p>
        </p:txBody>
      </p:sp>
      <p:sp>
        <p:nvSpPr>
          <p:cNvPr id="66" name="Shape 64"/>
          <p:cNvSpPr/>
          <p:nvPr/>
        </p:nvSpPr>
        <p:spPr>
          <a:xfrm>
            <a:off x="10067544" y="2724912"/>
            <a:ext cx="210312" cy="210312"/>
          </a:xfrm>
          <a:prstGeom prst="ellipse">
            <a:avLst/>
          </a:prstGeom>
          <a:solidFill>
            <a:srgbClr val="0078D4"/>
          </a:solidFill>
          <a:ln w="15875">
            <a:solidFill>
              <a:srgbClr val="FFFFFF"/>
            </a:solidFill>
            <a:prstDash val="solid"/>
          </a:ln>
        </p:spPr>
      </p:sp>
      <p:sp>
        <p:nvSpPr>
          <p:cNvPr id="67" name="Text 65"/>
          <p:cNvSpPr/>
          <p:nvPr/>
        </p:nvSpPr>
        <p:spPr>
          <a:xfrm>
            <a:off x="10067544" y="2724912"/>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11</a:t>
            </a:r>
            <a:endParaRPr lang="en-US" sz="700" dirty="0"/>
          </a:p>
        </p:txBody>
      </p:sp>
      <p:sp>
        <p:nvSpPr>
          <p:cNvPr id="68" name="Shape 66"/>
          <p:cNvSpPr/>
          <p:nvPr/>
        </p:nvSpPr>
        <p:spPr>
          <a:xfrm>
            <a:off x="2020824" y="1956816"/>
            <a:ext cx="310896" cy="0"/>
          </a:xfrm>
          <a:prstGeom prst="line">
            <a:avLst/>
          </a:prstGeom>
          <a:noFill/>
          <a:ln w="15875">
            <a:solidFill>
              <a:srgbClr val="0078D4"/>
            </a:solidFill>
            <a:prstDash val="solid"/>
            <a:tailEnd type="triangle"/>
          </a:ln>
        </p:spPr>
      </p:sp>
      <p:sp>
        <p:nvSpPr>
          <p:cNvPr id="69" name="Shape 67"/>
          <p:cNvSpPr/>
          <p:nvPr/>
        </p:nvSpPr>
        <p:spPr>
          <a:xfrm>
            <a:off x="3986784" y="1956816"/>
            <a:ext cx="310896" cy="0"/>
          </a:xfrm>
          <a:prstGeom prst="line">
            <a:avLst/>
          </a:prstGeom>
          <a:noFill/>
          <a:ln w="15875">
            <a:solidFill>
              <a:srgbClr val="0078D4"/>
            </a:solidFill>
            <a:prstDash val="solid"/>
            <a:tailEnd type="triangle"/>
          </a:ln>
        </p:spPr>
      </p:sp>
      <p:sp>
        <p:nvSpPr>
          <p:cNvPr id="70" name="Shape 68"/>
          <p:cNvSpPr/>
          <p:nvPr/>
        </p:nvSpPr>
        <p:spPr>
          <a:xfrm>
            <a:off x="5943600" y="1956816"/>
            <a:ext cx="310896" cy="0"/>
          </a:xfrm>
          <a:prstGeom prst="line">
            <a:avLst/>
          </a:prstGeom>
          <a:noFill/>
          <a:ln w="15875">
            <a:solidFill>
              <a:srgbClr val="0078D4"/>
            </a:solidFill>
            <a:prstDash val="solid"/>
            <a:tailEnd type="triangle"/>
          </a:ln>
        </p:spPr>
      </p:sp>
      <p:sp>
        <p:nvSpPr>
          <p:cNvPr id="71" name="Shape 69"/>
          <p:cNvSpPr/>
          <p:nvPr/>
        </p:nvSpPr>
        <p:spPr>
          <a:xfrm>
            <a:off x="7891272" y="1956816"/>
            <a:ext cx="310896" cy="0"/>
          </a:xfrm>
          <a:prstGeom prst="line">
            <a:avLst/>
          </a:prstGeom>
          <a:noFill/>
          <a:ln w="15875">
            <a:solidFill>
              <a:srgbClr val="0078D4"/>
            </a:solidFill>
            <a:prstDash val="solid"/>
            <a:tailEnd type="triangle"/>
          </a:ln>
        </p:spPr>
      </p:sp>
      <p:sp>
        <p:nvSpPr>
          <p:cNvPr id="72" name="Shape 70"/>
          <p:cNvSpPr/>
          <p:nvPr/>
        </p:nvSpPr>
        <p:spPr>
          <a:xfrm>
            <a:off x="9848088" y="1956816"/>
            <a:ext cx="310896" cy="0"/>
          </a:xfrm>
          <a:prstGeom prst="line">
            <a:avLst/>
          </a:prstGeom>
          <a:noFill/>
          <a:ln w="15875">
            <a:solidFill>
              <a:srgbClr val="0078D4"/>
            </a:solidFill>
            <a:prstDash val="solid"/>
            <a:tailEnd type="triangle"/>
          </a:ln>
        </p:spPr>
      </p:sp>
      <p:sp>
        <p:nvSpPr>
          <p:cNvPr id="73" name="Shape 71"/>
          <p:cNvSpPr/>
          <p:nvPr/>
        </p:nvSpPr>
        <p:spPr>
          <a:xfrm>
            <a:off x="10972800" y="2359152"/>
            <a:ext cx="0" cy="475488"/>
          </a:xfrm>
          <a:prstGeom prst="line">
            <a:avLst/>
          </a:prstGeom>
          <a:noFill/>
          <a:ln w="15875">
            <a:solidFill>
              <a:srgbClr val="0078D4"/>
            </a:solidFill>
            <a:prstDash val="solid"/>
            <a:tailEnd type="triangle"/>
          </a:ln>
        </p:spPr>
      </p:sp>
      <p:sp>
        <p:nvSpPr>
          <p:cNvPr id="74" name="Shape 72"/>
          <p:cNvSpPr/>
          <p:nvPr/>
        </p:nvSpPr>
        <p:spPr>
          <a:xfrm>
            <a:off x="2002536" y="2542032"/>
            <a:ext cx="3108960" cy="0"/>
          </a:xfrm>
          <a:prstGeom prst="line">
            <a:avLst/>
          </a:prstGeom>
          <a:noFill/>
          <a:ln w="12700">
            <a:solidFill>
              <a:srgbClr val="0078D4"/>
            </a:solidFill>
            <a:prstDash val="dash"/>
            <a:tailEnd type="none"/>
          </a:ln>
        </p:spPr>
      </p:sp>
      <p:sp>
        <p:nvSpPr>
          <p:cNvPr id="75" name="Shape 73"/>
          <p:cNvSpPr/>
          <p:nvPr/>
        </p:nvSpPr>
        <p:spPr>
          <a:xfrm>
            <a:off x="5113782" y="2359152"/>
            <a:ext cx="0" cy="182880"/>
          </a:xfrm>
          <a:prstGeom prst="line">
            <a:avLst/>
          </a:prstGeom>
          <a:noFill/>
          <a:ln w="12700">
            <a:solidFill>
              <a:srgbClr val="0078D4"/>
            </a:solidFill>
            <a:prstDash val="dash"/>
            <a:headEnd type="triangle"/>
            <a:tailEnd type="none"/>
          </a:ln>
        </p:spPr>
      </p:sp>
      <p:sp>
        <p:nvSpPr>
          <p:cNvPr id="76" name="Text 74"/>
          <p:cNvSpPr/>
          <p:nvPr/>
        </p:nvSpPr>
        <p:spPr>
          <a:xfrm>
            <a:off x="2377440" y="2395728"/>
            <a:ext cx="1188720" cy="182880"/>
          </a:xfrm>
          <a:prstGeom prst="rect">
            <a:avLst/>
          </a:prstGeom>
          <a:noFill/>
          <a:ln/>
        </p:spPr>
        <p:txBody>
          <a:bodyPr wrap="square" lIns="0" tIns="0" rIns="0" bIns="0" rtlCol="0" anchor="ctr"/>
          <a:lstStyle/>
          <a:p>
            <a:pPr algn="l" indent="0" marL="0">
              <a:buNone/>
            </a:pPr>
            <a:r>
              <a:rPr lang="en-US" sz="600" dirty="0">
                <a:solidFill>
                  <a:srgbClr val="605E5C"/>
                </a:solidFill>
                <a:latin typeface="Segoe UI" pitchFamily="34" charset="0"/>
                <a:ea typeface="Segoe UI" pitchFamily="34" charset="-122"/>
                <a:cs typeface="Segoe UI" pitchFamily="34" charset="-120"/>
              </a:rPr>
              <a:t>prepdocs.py (CLI)</a:t>
            </a:r>
            <a:endParaRPr lang="en-US" sz="600" dirty="0"/>
          </a:p>
        </p:txBody>
      </p:sp>
      <p:sp>
        <p:nvSpPr>
          <p:cNvPr id="77" name="Shape 75"/>
          <p:cNvSpPr/>
          <p:nvPr/>
        </p:nvSpPr>
        <p:spPr>
          <a:xfrm>
            <a:off x="2350008" y="2761488"/>
            <a:ext cx="5527548" cy="1353312"/>
          </a:xfrm>
          <a:prstGeom prst="roundRect">
            <a:avLst>
              <a:gd name="adj" fmla="val 1351"/>
            </a:avLst>
          </a:prstGeom>
          <a:solidFill>
            <a:srgbClr val="FFFFFF"/>
          </a:solidFill>
          <a:ln w="15875">
            <a:solidFill>
              <a:srgbClr val="0078D4"/>
            </a:solidFill>
            <a:prstDash val="dash"/>
          </a:ln>
        </p:spPr>
      </p:sp>
      <p:sp>
        <p:nvSpPr>
          <p:cNvPr id="78" name="Text 76"/>
          <p:cNvSpPr/>
          <p:nvPr/>
        </p:nvSpPr>
        <p:spPr>
          <a:xfrm>
            <a:off x="2423160" y="2793492"/>
            <a:ext cx="5381244" cy="201168"/>
          </a:xfrm>
          <a:prstGeom prst="rect">
            <a:avLst/>
          </a:prstGeom>
          <a:solidFill>
            <a:srgbClr val="FFFFFF"/>
          </a:solidFill>
          <a:ln/>
        </p:spPr>
        <p:txBody>
          <a:bodyPr wrap="square" lIns="0" tIns="0" rIns="0" bIns="0" rtlCol="0" anchor="ctr"/>
          <a:lstStyle/>
          <a:p>
            <a:pPr algn="l" indent="0" marL="0">
              <a:buNone/>
            </a:pPr>
            <a:r>
              <a:rPr lang="en-US" sz="750" b="1" dirty="0">
                <a:solidFill>
                  <a:srgbClr val="0078D4"/>
                </a:solidFill>
                <a:latin typeface="Segoe UI" pitchFamily="34" charset="0"/>
                <a:ea typeface="Segoe UI" pitchFamily="34" charset="-122"/>
                <a:cs typeface="Segoe UI" pitchFamily="34" charset="-120"/>
              </a:rPr>
              <a:t>ENRICHISSEMENT  —  skillset Azure AI Search</a:t>
            </a:r>
            <a:pPr algn="l" indent="0" marL="0">
              <a:buNone/>
            </a:pPr>
            <a:r>
              <a:rPr lang="en-US" sz="650" i="1" dirty="0">
                <a:solidFill>
                  <a:srgbClr val="605E5C"/>
                </a:solidFill>
                <a:latin typeface="Segoe UI" pitchFamily="34" charset="0"/>
                <a:ea typeface="Segoe UI" pitchFamily="34" charset="-122"/>
                <a:cs typeface="Segoe UI" pitchFamily="34" charset="-120"/>
              </a:rPr>
              <a:t>   ·   compétences personnalisées sur Azure Functions</a:t>
            </a:r>
            <a:endParaRPr lang="en-US" sz="750" dirty="0"/>
          </a:p>
        </p:txBody>
      </p:sp>
      <p:sp>
        <p:nvSpPr>
          <p:cNvPr id="79" name="Shape 77"/>
          <p:cNvSpPr/>
          <p:nvPr/>
        </p:nvSpPr>
        <p:spPr>
          <a:xfrm>
            <a:off x="2459736"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80" name="Shape 78"/>
          <p:cNvSpPr/>
          <p:nvPr/>
        </p:nvSpPr>
        <p:spPr>
          <a:xfrm>
            <a:off x="2528316" y="3195828"/>
            <a:ext cx="219456" cy="219456"/>
          </a:xfrm>
          <a:prstGeom prst="roundRect">
            <a:avLst>
              <a:gd name="adj" fmla="val 12500"/>
            </a:avLst>
          </a:prstGeom>
          <a:solidFill>
            <a:srgbClr val="F3F2F1"/>
          </a:solidFill>
          <a:ln w="9525">
            <a:solidFill>
              <a:srgbClr val="B3B3B3"/>
            </a:solidFill>
            <a:prstDash val="dash"/>
          </a:ln>
        </p:spPr>
      </p:sp>
      <p:sp>
        <p:nvSpPr>
          <p:cNvPr id="81" name="Text 79"/>
          <p:cNvSpPr/>
          <p:nvPr/>
        </p:nvSpPr>
        <p:spPr>
          <a:xfrm>
            <a:off x="2528316" y="3195828"/>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82" name="Text 80"/>
          <p:cNvSpPr/>
          <p:nvPr/>
        </p:nvSpPr>
        <p:spPr>
          <a:xfrm>
            <a:off x="2811780"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Document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Extractor</a:t>
            </a:r>
            <a:endParaRPr lang="en-US" sz="700" dirty="0"/>
          </a:p>
        </p:txBody>
      </p:sp>
      <p:sp>
        <p:nvSpPr>
          <p:cNvPr id="83" name="Text 81"/>
          <p:cNvSpPr/>
          <p:nvPr/>
        </p:nvSpPr>
        <p:spPr>
          <a:xfrm>
            <a:off x="2537460"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Télécharge le blob, extrait texte,</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tableaux et figures ; lit les ACL</a:t>
            </a:r>
            <a:endParaRPr lang="en-US" sz="580" dirty="0"/>
          </a:p>
        </p:txBody>
      </p:sp>
      <p:sp>
        <p:nvSpPr>
          <p:cNvPr id="84" name="Shape 82"/>
          <p:cNvSpPr/>
          <p:nvPr/>
        </p:nvSpPr>
        <p:spPr>
          <a:xfrm>
            <a:off x="2350008" y="3017520"/>
            <a:ext cx="210312" cy="210312"/>
          </a:xfrm>
          <a:prstGeom prst="ellipse">
            <a:avLst/>
          </a:prstGeom>
          <a:solidFill>
            <a:srgbClr val="0078D4"/>
          </a:solidFill>
          <a:ln w="15875">
            <a:solidFill>
              <a:srgbClr val="FFFFFF"/>
            </a:solidFill>
            <a:prstDash val="solid"/>
          </a:ln>
        </p:spPr>
      </p:sp>
      <p:sp>
        <p:nvSpPr>
          <p:cNvPr id="85" name="Text 83"/>
          <p:cNvSpPr/>
          <p:nvPr/>
        </p:nvSpPr>
        <p:spPr>
          <a:xfrm>
            <a:off x="2350008"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5</a:t>
            </a:r>
            <a:endParaRPr lang="en-US" sz="700" dirty="0"/>
          </a:p>
        </p:txBody>
      </p:sp>
      <p:sp>
        <p:nvSpPr>
          <p:cNvPr id="86" name="Shape 84"/>
          <p:cNvSpPr/>
          <p:nvPr/>
        </p:nvSpPr>
        <p:spPr>
          <a:xfrm>
            <a:off x="3826764"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87" name="Shape 85"/>
          <p:cNvSpPr/>
          <p:nvPr/>
        </p:nvSpPr>
        <p:spPr>
          <a:xfrm>
            <a:off x="3895344" y="3195828"/>
            <a:ext cx="219456" cy="219456"/>
          </a:xfrm>
          <a:prstGeom prst="roundRect">
            <a:avLst>
              <a:gd name="adj" fmla="val 12500"/>
            </a:avLst>
          </a:prstGeom>
          <a:solidFill>
            <a:srgbClr val="F3F2F1"/>
          </a:solidFill>
          <a:ln w="9525">
            <a:solidFill>
              <a:srgbClr val="B3B3B3"/>
            </a:solidFill>
            <a:prstDash val="dash"/>
          </a:ln>
        </p:spPr>
      </p:sp>
      <p:sp>
        <p:nvSpPr>
          <p:cNvPr id="88" name="Text 86"/>
          <p:cNvSpPr/>
          <p:nvPr/>
        </p:nvSpPr>
        <p:spPr>
          <a:xfrm>
            <a:off x="3895344" y="3195828"/>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89" name="Text 87"/>
          <p:cNvSpPr/>
          <p:nvPr/>
        </p:nvSpPr>
        <p:spPr>
          <a:xfrm>
            <a:off x="4178808"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Figure</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Processor</a:t>
            </a:r>
            <a:endParaRPr lang="en-US" sz="700" dirty="0"/>
          </a:p>
        </p:txBody>
      </p:sp>
      <p:sp>
        <p:nvSpPr>
          <p:cNvPr id="90" name="Text 88"/>
          <p:cNvSpPr/>
          <p:nvPr/>
        </p:nvSpPr>
        <p:spPr>
          <a:xfrm>
            <a:off x="3904488"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Recadre la figure, la décrit,</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vectorise l'image</a:t>
            </a:r>
            <a:endParaRPr lang="en-US" sz="580" dirty="0"/>
          </a:p>
        </p:txBody>
      </p:sp>
      <p:sp>
        <p:nvSpPr>
          <p:cNvPr id="91" name="Shape 89"/>
          <p:cNvSpPr/>
          <p:nvPr/>
        </p:nvSpPr>
        <p:spPr>
          <a:xfrm>
            <a:off x="3717036" y="3017520"/>
            <a:ext cx="210312" cy="210312"/>
          </a:xfrm>
          <a:prstGeom prst="ellipse">
            <a:avLst/>
          </a:prstGeom>
          <a:solidFill>
            <a:srgbClr val="0078D4"/>
          </a:solidFill>
          <a:ln w="15875">
            <a:solidFill>
              <a:srgbClr val="FFFFFF"/>
            </a:solidFill>
            <a:prstDash val="solid"/>
          </a:ln>
        </p:spPr>
      </p:sp>
      <p:sp>
        <p:nvSpPr>
          <p:cNvPr id="92" name="Text 90"/>
          <p:cNvSpPr/>
          <p:nvPr/>
        </p:nvSpPr>
        <p:spPr>
          <a:xfrm>
            <a:off x="3717036"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6</a:t>
            </a:r>
            <a:endParaRPr lang="en-US" sz="700" dirty="0"/>
          </a:p>
        </p:txBody>
      </p:sp>
      <p:sp>
        <p:nvSpPr>
          <p:cNvPr id="93" name="Shape 91"/>
          <p:cNvSpPr/>
          <p:nvPr/>
        </p:nvSpPr>
        <p:spPr>
          <a:xfrm>
            <a:off x="5193792"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94" name="Shape 92"/>
          <p:cNvSpPr/>
          <p:nvPr/>
        </p:nvSpPr>
        <p:spPr>
          <a:xfrm>
            <a:off x="5262372" y="3195828"/>
            <a:ext cx="219456" cy="219456"/>
          </a:xfrm>
          <a:prstGeom prst="roundRect">
            <a:avLst>
              <a:gd name="adj" fmla="val 12500"/>
            </a:avLst>
          </a:prstGeom>
          <a:solidFill>
            <a:srgbClr val="F3F2F1"/>
          </a:solidFill>
          <a:ln w="9525">
            <a:solidFill>
              <a:srgbClr val="B3B3B3"/>
            </a:solidFill>
            <a:prstDash val="dash"/>
          </a:ln>
        </p:spPr>
      </p:sp>
      <p:sp>
        <p:nvSpPr>
          <p:cNvPr id="95" name="Text 93"/>
          <p:cNvSpPr/>
          <p:nvPr/>
        </p:nvSpPr>
        <p:spPr>
          <a:xfrm>
            <a:off x="5262372" y="3195828"/>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96" name="Text 94"/>
          <p:cNvSpPr/>
          <p:nvPr/>
        </p:nvSpPr>
        <p:spPr>
          <a:xfrm>
            <a:off x="5545836"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Shaper</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(intégré)</a:t>
            </a:r>
            <a:endParaRPr lang="en-US" sz="700" dirty="0"/>
          </a:p>
        </p:txBody>
      </p:sp>
      <p:sp>
        <p:nvSpPr>
          <p:cNvPr id="97" name="Text 95"/>
          <p:cNvSpPr/>
          <p:nvPr/>
        </p:nvSpPr>
        <p:spPr>
          <a:xfrm>
            <a:off x="5271516"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Consolide pages et figures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en un objet unique</a:t>
            </a:r>
            <a:endParaRPr lang="en-US" sz="580" dirty="0"/>
          </a:p>
        </p:txBody>
      </p:sp>
      <p:sp>
        <p:nvSpPr>
          <p:cNvPr id="98" name="Shape 96"/>
          <p:cNvSpPr/>
          <p:nvPr/>
        </p:nvSpPr>
        <p:spPr>
          <a:xfrm>
            <a:off x="5084064" y="3017520"/>
            <a:ext cx="210312" cy="210312"/>
          </a:xfrm>
          <a:prstGeom prst="ellipse">
            <a:avLst/>
          </a:prstGeom>
          <a:solidFill>
            <a:srgbClr val="0078D4"/>
          </a:solidFill>
          <a:ln w="15875">
            <a:solidFill>
              <a:srgbClr val="FFFFFF"/>
            </a:solidFill>
            <a:prstDash val="solid"/>
          </a:ln>
        </p:spPr>
      </p:sp>
      <p:sp>
        <p:nvSpPr>
          <p:cNvPr id="99" name="Text 97"/>
          <p:cNvSpPr/>
          <p:nvPr/>
        </p:nvSpPr>
        <p:spPr>
          <a:xfrm>
            <a:off x="5084064"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7</a:t>
            </a:r>
            <a:endParaRPr lang="en-US" sz="700" dirty="0"/>
          </a:p>
        </p:txBody>
      </p:sp>
      <p:sp>
        <p:nvSpPr>
          <p:cNvPr id="100" name="Shape 98"/>
          <p:cNvSpPr/>
          <p:nvPr/>
        </p:nvSpPr>
        <p:spPr>
          <a:xfrm>
            <a:off x="6560820" y="3127248"/>
            <a:ext cx="1211580" cy="877824"/>
          </a:xfrm>
          <a:prstGeom prst="roundRect">
            <a:avLst>
              <a:gd name="adj" fmla="val 4167"/>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01" name="Shape 99"/>
          <p:cNvSpPr/>
          <p:nvPr/>
        </p:nvSpPr>
        <p:spPr>
          <a:xfrm>
            <a:off x="6629400" y="3195828"/>
            <a:ext cx="219456" cy="219456"/>
          </a:xfrm>
          <a:prstGeom prst="roundRect">
            <a:avLst>
              <a:gd name="adj" fmla="val 12500"/>
            </a:avLst>
          </a:prstGeom>
          <a:solidFill>
            <a:srgbClr val="F3F2F1"/>
          </a:solidFill>
          <a:ln w="9525">
            <a:solidFill>
              <a:srgbClr val="B3B3B3"/>
            </a:solidFill>
            <a:prstDash val="dash"/>
          </a:ln>
        </p:spPr>
      </p:sp>
      <p:sp>
        <p:nvSpPr>
          <p:cNvPr id="102" name="Text 100"/>
          <p:cNvSpPr/>
          <p:nvPr/>
        </p:nvSpPr>
        <p:spPr>
          <a:xfrm>
            <a:off x="6629400" y="3195828"/>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03" name="Text 101"/>
          <p:cNvSpPr/>
          <p:nvPr/>
        </p:nvSpPr>
        <p:spPr>
          <a:xfrm>
            <a:off x="6912864" y="3168396"/>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Text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Processor</a:t>
            </a:r>
            <a:endParaRPr lang="en-US" sz="700" dirty="0"/>
          </a:p>
        </p:txBody>
      </p:sp>
      <p:sp>
        <p:nvSpPr>
          <p:cNvPr id="104" name="Text 102"/>
          <p:cNvSpPr/>
          <p:nvPr/>
        </p:nvSpPr>
        <p:spPr>
          <a:xfrm>
            <a:off x="6638544" y="3566160"/>
            <a:ext cx="1056132" cy="393192"/>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Fusionne, découpe en chunks,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calcule les embeddings</a:t>
            </a:r>
            <a:endParaRPr lang="en-US" sz="580" dirty="0"/>
          </a:p>
        </p:txBody>
      </p:sp>
      <p:sp>
        <p:nvSpPr>
          <p:cNvPr id="105" name="Shape 103"/>
          <p:cNvSpPr/>
          <p:nvPr/>
        </p:nvSpPr>
        <p:spPr>
          <a:xfrm>
            <a:off x="6451092" y="3017520"/>
            <a:ext cx="210312" cy="210312"/>
          </a:xfrm>
          <a:prstGeom prst="ellipse">
            <a:avLst/>
          </a:prstGeom>
          <a:solidFill>
            <a:srgbClr val="0078D4"/>
          </a:solidFill>
          <a:ln w="15875">
            <a:solidFill>
              <a:srgbClr val="FFFFFF"/>
            </a:solidFill>
            <a:prstDash val="solid"/>
          </a:ln>
        </p:spPr>
      </p:sp>
      <p:sp>
        <p:nvSpPr>
          <p:cNvPr id="106" name="Text 104"/>
          <p:cNvSpPr/>
          <p:nvPr/>
        </p:nvSpPr>
        <p:spPr>
          <a:xfrm>
            <a:off x="6451092" y="3017520"/>
            <a:ext cx="210312" cy="210312"/>
          </a:xfrm>
          <a:prstGeom prst="rect">
            <a:avLst/>
          </a:prstGeom>
          <a:no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8</a:t>
            </a:r>
            <a:endParaRPr lang="en-US" sz="700" dirty="0"/>
          </a:p>
        </p:txBody>
      </p:sp>
      <p:sp>
        <p:nvSpPr>
          <p:cNvPr id="107" name="Shape 105"/>
          <p:cNvSpPr/>
          <p:nvPr/>
        </p:nvSpPr>
        <p:spPr>
          <a:xfrm>
            <a:off x="3680460" y="3566160"/>
            <a:ext cx="137160" cy="0"/>
          </a:xfrm>
          <a:prstGeom prst="line">
            <a:avLst/>
          </a:prstGeom>
          <a:noFill/>
          <a:ln w="15875">
            <a:solidFill>
              <a:srgbClr val="8661C5"/>
            </a:solidFill>
            <a:prstDash val="solid"/>
            <a:tailEnd type="triangle"/>
          </a:ln>
        </p:spPr>
      </p:sp>
      <p:sp>
        <p:nvSpPr>
          <p:cNvPr id="108" name="Shape 106"/>
          <p:cNvSpPr/>
          <p:nvPr/>
        </p:nvSpPr>
        <p:spPr>
          <a:xfrm>
            <a:off x="5047488" y="3566160"/>
            <a:ext cx="137160" cy="0"/>
          </a:xfrm>
          <a:prstGeom prst="line">
            <a:avLst/>
          </a:prstGeom>
          <a:noFill/>
          <a:ln w="15875">
            <a:solidFill>
              <a:srgbClr val="8661C5"/>
            </a:solidFill>
            <a:prstDash val="solid"/>
            <a:tailEnd type="triangle"/>
          </a:ln>
        </p:spPr>
      </p:sp>
      <p:sp>
        <p:nvSpPr>
          <p:cNvPr id="109" name="Shape 107"/>
          <p:cNvSpPr/>
          <p:nvPr/>
        </p:nvSpPr>
        <p:spPr>
          <a:xfrm>
            <a:off x="6414516" y="3566160"/>
            <a:ext cx="137160" cy="0"/>
          </a:xfrm>
          <a:prstGeom prst="line">
            <a:avLst/>
          </a:prstGeom>
          <a:noFill/>
          <a:ln w="15875">
            <a:solidFill>
              <a:srgbClr val="8661C5"/>
            </a:solidFill>
            <a:prstDash val="solid"/>
            <a:tailEnd type="triangle"/>
          </a:ln>
        </p:spPr>
      </p:sp>
      <p:sp>
        <p:nvSpPr>
          <p:cNvPr id="110" name="Shape 108"/>
          <p:cNvSpPr/>
          <p:nvPr/>
        </p:nvSpPr>
        <p:spPr>
          <a:xfrm>
            <a:off x="7223760" y="2359152"/>
            <a:ext cx="0" cy="402336"/>
          </a:xfrm>
          <a:prstGeom prst="line">
            <a:avLst/>
          </a:prstGeom>
          <a:noFill/>
          <a:ln w="15875">
            <a:solidFill>
              <a:srgbClr val="8661C5"/>
            </a:solidFill>
            <a:prstDash val="solid"/>
            <a:tailEnd type="triangle"/>
          </a:ln>
        </p:spPr>
      </p:sp>
      <p:sp>
        <p:nvSpPr>
          <p:cNvPr id="111" name="Shape 109"/>
          <p:cNvSpPr/>
          <p:nvPr/>
        </p:nvSpPr>
        <p:spPr>
          <a:xfrm>
            <a:off x="7635240" y="2359152"/>
            <a:ext cx="0" cy="768096"/>
          </a:xfrm>
          <a:prstGeom prst="line">
            <a:avLst/>
          </a:prstGeom>
          <a:noFill/>
          <a:ln w="15875">
            <a:solidFill>
              <a:srgbClr val="8661C5"/>
            </a:solidFill>
            <a:prstDash val="solid"/>
            <a:headEnd type="triangle"/>
            <a:tailEnd type="none"/>
          </a:ln>
        </p:spPr>
      </p:sp>
      <p:sp>
        <p:nvSpPr>
          <p:cNvPr id="112" name="Shape 110"/>
          <p:cNvSpPr/>
          <p:nvPr/>
        </p:nvSpPr>
        <p:spPr>
          <a:xfrm>
            <a:off x="2350008" y="4315968"/>
            <a:ext cx="5527548" cy="1389888"/>
          </a:xfrm>
          <a:prstGeom prst="roundRect">
            <a:avLst>
              <a:gd name="adj" fmla="val 1316"/>
            </a:avLst>
          </a:prstGeom>
          <a:solidFill>
            <a:srgbClr val="FFFFFF"/>
          </a:solidFill>
          <a:ln w="15875">
            <a:solidFill>
              <a:srgbClr val="0078D4"/>
            </a:solidFill>
            <a:prstDash val="dash"/>
          </a:ln>
        </p:spPr>
      </p:sp>
      <p:sp>
        <p:nvSpPr>
          <p:cNvPr id="113" name="Shape 111"/>
          <p:cNvSpPr/>
          <p:nvPr/>
        </p:nvSpPr>
        <p:spPr>
          <a:xfrm>
            <a:off x="2459736"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14" name="Shape 112"/>
          <p:cNvSpPr/>
          <p:nvPr/>
        </p:nvSpPr>
        <p:spPr>
          <a:xfrm>
            <a:off x="2528316" y="4732020"/>
            <a:ext cx="219456" cy="219456"/>
          </a:xfrm>
          <a:prstGeom prst="roundRect">
            <a:avLst>
              <a:gd name="adj" fmla="val 12500"/>
            </a:avLst>
          </a:prstGeom>
          <a:solidFill>
            <a:srgbClr val="F3F2F1"/>
          </a:solidFill>
          <a:ln w="9525">
            <a:solidFill>
              <a:srgbClr val="B3B3B3"/>
            </a:solidFill>
            <a:prstDash val="dash"/>
          </a:ln>
        </p:spPr>
      </p:sp>
      <p:sp>
        <p:nvSpPr>
          <p:cNvPr id="115" name="Text 113"/>
          <p:cNvSpPr/>
          <p:nvPr/>
        </p:nvSpPr>
        <p:spPr>
          <a:xfrm>
            <a:off x="2528316" y="4732020"/>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16" name="Text 114"/>
          <p:cNvSpPr/>
          <p:nvPr/>
        </p:nvSpPr>
        <p:spPr>
          <a:xfrm>
            <a:off x="2811780"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AI Document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Intelligence</a:t>
            </a:r>
            <a:endParaRPr lang="en-US" sz="700" dirty="0"/>
          </a:p>
        </p:txBody>
      </p:sp>
      <p:sp>
        <p:nvSpPr>
          <p:cNvPr id="117" name="Text 115"/>
          <p:cNvSpPr/>
          <p:nvPr/>
        </p:nvSpPr>
        <p:spPr>
          <a:xfrm>
            <a:off x="2537460"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Modèle layout : texte, tableaux</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 HTML), figures + coordonnées</a:t>
            </a:r>
            <a:endParaRPr lang="en-US" sz="580" dirty="0"/>
          </a:p>
        </p:txBody>
      </p:sp>
      <p:sp>
        <p:nvSpPr>
          <p:cNvPr id="118" name="Shape 116"/>
          <p:cNvSpPr/>
          <p:nvPr/>
        </p:nvSpPr>
        <p:spPr>
          <a:xfrm>
            <a:off x="3826764"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19" name="Shape 117"/>
          <p:cNvSpPr/>
          <p:nvPr/>
        </p:nvSpPr>
        <p:spPr>
          <a:xfrm>
            <a:off x="3895344" y="4732020"/>
            <a:ext cx="219456" cy="219456"/>
          </a:xfrm>
          <a:prstGeom prst="roundRect">
            <a:avLst>
              <a:gd name="adj" fmla="val 12500"/>
            </a:avLst>
          </a:prstGeom>
          <a:solidFill>
            <a:srgbClr val="F3F2F1"/>
          </a:solidFill>
          <a:ln w="9525">
            <a:solidFill>
              <a:srgbClr val="B3B3B3"/>
            </a:solidFill>
            <a:prstDash val="dash"/>
          </a:ln>
        </p:spPr>
      </p:sp>
      <p:sp>
        <p:nvSpPr>
          <p:cNvPr id="120" name="Text 118"/>
          <p:cNvSpPr/>
          <p:nvPr/>
        </p:nvSpPr>
        <p:spPr>
          <a:xfrm>
            <a:off x="3895344" y="4732020"/>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21" name="Text 119"/>
          <p:cNvSpPr/>
          <p:nvPr/>
        </p:nvSpPr>
        <p:spPr>
          <a:xfrm>
            <a:off x="4178808"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AI Vision</a:t>
            </a:r>
            <a:endParaRPr lang="en-US" sz="700" dirty="0"/>
          </a:p>
        </p:txBody>
      </p:sp>
      <p:sp>
        <p:nvSpPr>
          <p:cNvPr id="122" name="Text 120"/>
          <p:cNvSpPr/>
          <p:nvPr/>
        </p:nvSpPr>
        <p:spPr>
          <a:xfrm>
            <a:off x="3904488"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Embeddings d'images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(multimodal, option)</a:t>
            </a:r>
            <a:endParaRPr lang="en-US" sz="580" dirty="0"/>
          </a:p>
        </p:txBody>
      </p:sp>
      <p:sp>
        <p:nvSpPr>
          <p:cNvPr id="123" name="Shape 121"/>
          <p:cNvSpPr/>
          <p:nvPr/>
        </p:nvSpPr>
        <p:spPr>
          <a:xfrm>
            <a:off x="5193792"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24" name="Shape 122"/>
          <p:cNvSpPr/>
          <p:nvPr/>
        </p:nvSpPr>
        <p:spPr>
          <a:xfrm>
            <a:off x="5262372" y="4732020"/>
            <a:ext cx="219456" cy="219456"/>
          </a:xfrm>
          <a:prstGeom prst="roundRect">
            <a:avLst>
              <a:gd name="adj" fmla="val 12500"/>
            </a:avLst>
          </a:prstGeom>
          <a:solidFill>
            <a:srgbClr val="F3F2F1"/>
          </a:solidFill>
          <a:ln w="9525">
            <a:solidFill>
              <a:srgbClr val="B3B3B3"/>
            </a:solidFill>
            <a:prstDash val="dash"/>
          </a:ln>
        </p:spPr>
      </p:sp>
      <p:sp>
        <p:nvSpPr>
          <p:cNvPr id="125" name="Text 123"/>
          <p:cNvSpPr/>
          <p:nvPr/>
        </p:nvSpPr>
        <p:spPr>
          <a:xfrm>
            <a:off x="5262372" y="4732020"/>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26" name="Text 124"/>
          <p:cNvSpPr/>
          <p:nvPr/>
        </p:nvSpPr>
        <p:spPr>
          <a:xfrm>
            <a:off x="5545836"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AI Content</a:t>
            </a:r>
            <a:endParaRPr lang="en-US" sz="700" dirty="0"/>
          </a:p>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Understanding</a:t>
            </a:r>
            <a:endParaRPr lang="en-US" sz="700" dirty="0"/>
          </a:p>
        </p:txBody>
      </p:sp>
      <p:sp>
        <p:nvSpPr>
          <p:cNvPr id="127" name="Text 125"/>
          <p:cNvSpPr/>
          <p:nvPr/>
        </p:nvSpPr>
        <p:spPr>
          <a:xfrm>
            <a:off x="5271516"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Description de médias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(alternative, option)</a:t>
            </a:r>
            <a:endParaRPr lang="en-US" sz="580" dirty="0"/>
          </a:p>
        </p:txBody>
      </p:sp>
      <p:sp>
        <p:nvSpPr>
          <p:cNvPr id="128" name="Shape 126"/>
          <p:cNvSpPr/>
          <p:nvPr/>
        </p:nvSpPr>
        <p:spPr>
          <a:xfrm>
            <a:off x="6560820" y="4663440"/>
            <a:ext cx="1211580" cy="914400"/>
          </a:xfrm>
          <a:prstGeom prst="roundRect">
            <a:avLst>
              <a:gd name="adj" fmla="val 4000"/>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29" name="Shape 127"/>
          <p:cNvSpPr/>
          <p:nvPr/>
        </p:nvSpPr>
        <p:spPr>
          <a:xfrm>
            <a:off x="6629400" y="4732020"/>
            <a:ext cx="219456" cy="219456"/>
          </a:xfrm>
          <a:prstGeom prst="roundRect">
            <a:avLst>
              <a:gd name="adj" fmla="val 12500"/>
            </a:avLst>
          </a:prstGeom>
          <a:solidFill>
            <a:srgbClr val="F3F2F1"/>
          </a:solidFill>
          <a:ln w="9525">
            <a:solidFill>
              <a:srgbClr val="B3B3B3"/>
            </a:solidFill>
            <a:prstDash val="dash"/>
          </a:ln>
        </p:spPr>
      </p:sp>
      <p:sp>
        <p:nvSpPr>
          <p:cNvPr id="130" name="Text 128"/>
          <p:cNvSpPr/>
          <p:nvPr/>
        </p:nvSpPr>
        <p:spPr>
          <a:xfrm>
            <a:off x="6629400" y="4732020"/>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31" name="Text 129"/>
          <p:cNvSpPr/>
          <p:nvPr/>
        </p:nvSpPr>
        <p:spPr>
          <a:xfrm>
            <a:off x="6912864" y="4704588"/>
            <a:ext cx="79552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Microsoft Foundry</a:t>
            </a:r>
            <a:endParaRPr lang="en-US" sz="700" dirty="0"/>
          </a:p>
        </p:txBody>
      </p:sp>
      <p:sp>
        <p:nvSpPr>
          <p:cNvPr id="132" name="Text 130"/>
          <p:cNvSpPr/>
          <p:nvPr/>
        </p:nvSpPr>
        <p:spPr>
          <a:xfrm>
            <a:off x="6638544" y="5102352"/>
            <a:ext cx="1056132" cy="429768"/>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Azure OpenAI : text-embedding-3-large (3072 dim.) et modèle vision pour les figures</a:t>
            </a:r>
            <a:endParaRPr lang="en-US" sz="580" dirty="0"/>
          </a:p>
        </p:txBody>
      </p:sp>
      <p:sp>
        <p:nvSpPr>
          <p:cNvPr id="133" name="Shape 131"/>
          <p:cNvSpPr/>
          <p:nvPr/>
        </p:nvSpPr>
        <p:spPr>
          <a:xfrm>
            <a:off x="3065526" y="4005072"/>
            <a:ext cx="0" cy="621792"/>
          </a:xfrm>
          <a:prstGeom prst="line">
            <a:avLst/>
          </a:prstGeom>
          <a:noFill/>
          <a:ln w="12700">
            <a:solidFill>
              <a:srgbClr val="605E5C"/>
            </a:solidFill>
            <a:prstDash val="dash"/>
            <a:tailEnd type="triangle"/>
          </a:ln>
        </p:spPr>
      </p:sp>
      <p:sp>
        <p:nvSpPr>
          <p:cNvPr id="134" name="Shape 132"/>
          <p:cNvSpPr/>
          <p:nvPr/>
        </p:nvSpPr>
        <p:spPr>
          <a:xfrm>
            <a:off x="4432554" y="4005072"/>
            <a:ext cx="0" cy="621792"/>
          </a:xfrm>
          <a:prstGeom prst="line">
            <a:avLst/>
          </a:prstGeom>
          <a:noFill/>
          <a:ln w="12700">
            <a:solidFill>
              <a:srgbClr val="605E5C"/>
            </a:solidFill>
            <a:prstDash val="dash"/>
            <a:tailEnd type="triangle"/>
          </a:ln>
        </p:spPr>
      </p:sp>
      <p:sp>
        <p:nvSpPr>
          <p:cNvPr id="135" name="Shape 133"/>
          <p:cNvSpPr/>
          <p:nvPr/>
        </p:nvSpPr>
        <p:spPr>
          <a:xfrm>
            <a:off x="7166610" y="4005072"/>
            <a:ext cx="0" cy="621792"/>
          </a:xfrm>
          <a:prstGeom prst="line">
            <a:avLst/>
          </a:prstGeom>
          <a:noFill/>
          <a:ln w="12700">
            <a:solidFill>
              <a:srgbClr val="605E5C"/>
            </a:solidFill>
            <a:prstDash val="dash"/>
            <a:tailEnd type="triangle"/>
          </a:ln>
        </p:spPr>
      </p:sp>
      <p:sp>
        <p:nvSpPr>
          <p:cNvPr id="136" name="Shape 134"/>
          <p:cNvSpPr/>
          <p:nvPr/>
        </p:nvSpPr>
        <p:spPr>
          <a:xfrm>
            <a:off x="4754880" y="4005072"/>
            <a:ext cx="0" cy="201168"/>
          </a:xfrm>
          <a:prstGeom prst="line">
            <a:avLst/>
          </a:prstGeom>
          <a:noFill/>
          <a:ln w="12700">
            <a:solidFill>
              <a:srgbClr val="605E5C"/>
            </a:solidFill>
            <a:prstDash val="dash"/>
            <a:tailEnd type="none"/>
          </a:ln>
        </p:spPr>
      </p:sp>
      <p:sp>
        <p:nvSpPr>
          <p:cNvPr id="137" name="Shape 135"/>
          <p:cNvSpPr/>
          <p:nvPr/>
        </p:nvSpPr>
        <p:spPr>
          <a:xfrm>
            <a:off x="4754880" y="4206240"/>
            <a:ext cx="1044702" cy="0"/>
          </a:xfrm>
          <a:prstGeom prst="line">
            <a:avLst/>
          </a:prstGeom>
          <a:noFill/>
          <a:ln w="12700">
            <a:solidFill>
              <a:srgbClr val="605E5C"/>
            </a:solidFill>
            <a:prstDash val="dash"/>
            <a:tailEnd type="none"/>
          </a:ln>
        </p:spPr>
      </p:sp>
      <p:sp>
        <p:nvSpPr>
          <p:cNvPr id="138" name="Shape 136"/>
          <p:cNvSpPr/>
          <p:nvPr/>
        </p:nvSpPr>
        <p:spPr>
          <a:xfrm>
            <a:off x="5799582" y="4206240"/>
            <a:ext cx="0" cy="420624"/>
          </a:xfrm>
          <a:prstGeom prst="line">
            <a:avLst/>
          </a:prstGeom>
          <a:noFill/>
          <a:ln w="12700">
            <a:solidFill>
              <a:srgbClr val="605E5C"/>
            </a:solidFill>
            <a:prstDash val="dash"/>
            <a:tailEnd type="triangle"/>
          </a:ln>
        </p:spPr>
      </p:sp>
      <p:sp>
        <p:nvSpPr>
          <p:cNvPr id="139" name="Text 137"/>
          <p:cNvSpPr/>
          <p:nvPr/>
        </p:nvSpPr>
        <p:spPr>
          <a:xfrm>
            <a:off x="2423160" y="4347972"/>
            <a:ext cx="5381244" cy="201168"/>
          </a:xfrm>
          <a:prstGeom prst="rect">
            <a:avLst/>
          </a:prstGeom>
          <a:solidFill>
            <a:srgbClr val="FFFFFF"/>
          </a:solidFill>
          <a:ln/>
        </p:spPr>
        <p:txBody>
          <a:bodyPr wrap="square" lIns="0" tIns="0" rIns="0" bIns="0" rtlCol="0" anchor="ctr"/>
          <a:lstStyle/>
          <a:p>
            <a:pPr algn="l" indent="0" marL="0">
              <a:buNone/>
            </a:pPr>
            <a:r>
              <a:rPr lang="en-US" sz="750" b="1" dirty="0">
                <a:solidFill>
                  <a:srgbClr val="0078D4"/>
                </a:solidFill>
                <a:latin typeface="Segoe UI" pitchFamily="34" charset="0"/>
                <a:ea typeface="Segoe UI" pitchFamily="34" charset="-122"/>
                <a:cs typeface="Segoe UI" pitchFamily="34" charset="-120"/>
              </a:rPr>
              <a:t>SERVICES IA MANAGÉS</a:t>
            </a:r>
            <a:pPr algn="l" indent="0" marL="0">
              <a:buNone/>
            </a:pPr>
            <a:r>
              <a:rPr lang="en-US" sz="650" i="1" dirty="0">
                <a:solidFill>
                  <a:srgbClr val="605E5C"/>
                </a:solidFill>
                <a:latin typeface="Segoe UI" pitchFamily="34" charset="0"/>
                <a:ea typeface="Segoe UI" pitchFamily="34" charset="-122"/>
                <a:cs typeface="Segoe UI" pitchFamily="34" charset="-120"/>
              </a:rPr>
              <a:t>   ·   appelés par les compétences ci-dessus, jamais exposés publiquement</a:t>
            </a:r>
            <a:endParaRPr lang="en-US" sz="750" dirty="0"/>
          </a:p>
        </p:txBody>
      </p:sp>
      <p:sp>
        <p:nvSpPr>
          <p:cNvPr id="140" name="Shape 138"/>
          <p:cNvSpPr/>
          <p:nvPr/>
        </p:nvSpPr>
        <p:spPr>
          <a:xfrm>
            <a:off x="8206740" y="2487168"/>
            <a:ext cx="1623060" cy="1627632"/>
          </a:xfrm>
          <a:prstGeom prst="roundRect">
            <a:avLst>
              <a:gd name="adj" fmla="val 2254"/>
            </a:avLst>
          </a:prstGeom>
          <a:solidFill>
            <a:srgbClr val="FFFFFF"/>
          </a:solidFill>
          <a:ln w="12700">
            <a:solidFill>
              <a:srgbClr val="0078D4"/>
            </a:solidFill>
            <a:prstDash val="solid"/>
          </a:ln>
        </p:spPr>
      </p:sp>
      <p:sp>
        <p:nvSpPr>
          <p:cNvPr id="141" name="Text 139"/>
          <p:cNvSpPr/>
          <p:nvPr/>
        </p:nvSpPr>
        <p:spPr>
          <a:xfrm>
            <a:off x="8293608" y="2551176"/>
            <a:ext cx="1453896" cy="164592"/>
          </a:xfrm>
          <a:prstGeom prst="rect">
            <a:avLst/>
          </a:prstGeom>
          <a:noFill/>
          <a:ln/>
        </p:spPr>
        <p:txBody>
          <a:bodyPr wrap="square" lIns="0" tIns="0" rIns="0" bIns="0" rtlCol="0" anchor="ctr"/>
          <a:lstStyle/>
          <a:p>
            <a:pPr algn="l" indent="0" marL="0">
              <a:buNone/>
            </a:pPr>
            <a:r>
              <a:rPr lang="en-US" sz="700" b="1" dirty="0">
                <a:solidFill>
                  <a:srgbClr val="243A5E"/>
                </a:solidFill>
                <a:latin typeface="Segoe UI" pitchFamily="34" charset="0"/>
                <a:ea typeface="Segoe UI" pitchFamily="34" charset="-122"/>
                <a:cs typeface="Segoe UI" pitchFamily="34" charset="-120"/>
              </a:rPr>
              <a:t>Schéma de l'index</a:t>
            </a:r>
            <a:endParaRPr lang="en-US" sz="700" dirty="0"/>
          </a:p>
        </p:txBody>
      </p:sp>
      <p:sp>
        <p:nvSpPr>
          <p:cNvPr id="142" name="Text 140"/>
          <p:cNvSpPr/>
          <p:nvPr/>
        </p:nvSpPr>
        <p:spPr>
          <a:xfrm>
            <a:off x="8293608" y="2734056"/>
            <a:ext cx="1453896" cy="1325880"/>
          </a:xfrm>
          <a:prstGeom prst="rect">
            <a:avLst/>
          </a:prstGeom>
          <a:noFill/>
          <a:ln/>
        </p:spPr>
        <p:txBody>
          <a:bodyPr wrap="square" lIns="0" tIns="0" rIns="0" bIns="0" rtlCol="0" anchor="t"/>
          <a:lstStyle/>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id (clé) · parent_id</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content (searchable)</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sourcepage · sourcefile</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storageUrl → citations</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embedding3 : HNSW / cosinus</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category (filtre)</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images[] : embedding, url,</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description, bbox</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oids / groups → droits (option)</a:t>
            </a:r>
            <a:endParaRPr lang="en-US" sz="600" dirty="0"/>
          </a:p>
          <a:p>
            <a:pPr algn="l" indent="0" marL="0">
              <a:lnSpc>
                <a:spcPct val="95000"/>
              </a:lnSpc>
              <a:buNone/>
            </a:pPr>
            <a:r>
              <a:rPr lang="en-US" sz="600" dirty="0">
                <a:solidFill>
                  <a:srgbClr val="605E5C"/>
                </a:solidFill>
                <a:latin typeface="Segoe UI" pitchFamily="34" charset="0"/>
                <a:ea typeface="Segoe UI" pitchFamily="34" charset="-122"/>
                <a:cs typeface="Segoe UI" pitchFamily="34" charset="-120"/>
              </a:rPr>
              <a:t>config. sémantique default</a:t>
            </a:r>
            <a:endParaRPr lang="en-US" sz="600" dirty="0"/>
          </a:p>
        </p:txBody>
      </p:sp>
      <p:sp>
        <p:nvSpPr>
          <p:cNvPr id="143" name="Shape 141"/>
          <p:cNvSpPr/>
          <p:nvPr/>
        </p:nvSpPr>
        <p:spPr>
          <a:xfrm>
            <a:off x="8206740" y="4315968"/>
            <a:ext cx="1623060" cy="950976"/>
          </a:xfrm>
          <a:prstGeom prst="roundRect">
            <a:avLst>
              <a:gd name="adj" fmla="val 3846"/>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44" name="Shape 142"/>
          <p:cNvSpPr/>
          <p:nvPr/>
        </p:nvSpPr>
        <p:spPr>
          <a:xfrm>
            <a:off x="8275320" y="4384548"/>
            <a:ext cx="219456" cy="219456"/>
          </a:xfrm>
          <a:prstGeom prst="roundRect">
            <a:avLst>
              <a:gd name="adj" fmla="val 12500"/>
            </a:avLst>
          </a:prstGeom>
          <a:solidFill>
            <a:srgbClr val="F3F2F1"/>
          </a:solidFill>
          <a:ln w="9525">
            <a:solidFill>
              <a:srgbClr val="B3B3B3"/>
            </a:solidFill>
            <a:prstDash val="dash"/>
          </a:ln>
        </p:spPr>
      </p:sp>
      <p:sp>
        <p:nvSpPr>
          <p:cNvPr id="145" name="Text 143"/>
          <p:cNvSpPr/>
          <p:nvPr/>
        </p:nvSpPr>
        <p:spPr>
          <a:xfrm>
            <a:off x="8275320" y="4384548"/>
            <a:ext cx="219456" cy="21945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46" name="Text 144"/>
          <p:cNvSpPr/>
          <p:nvPr/>
        </p:nvSpPr>
        <p:spPr>
          <a:xfrm>
            <a:off x="8558784" y="4357116"/>
            <a:ext cx="1207008" cy="365760"/>
          </a:xfrm>
          <a:prstGeom prst="rect">
            <a:avLst/>
          </a:prstGeom>
          <a:noFill/>
          <a:ln/>
        </p:spPr>
        <p:txBody>
          <a:bodyPr wrap="square" lIns="0" tIns="0" rIns="0" bIns="0" rtlCol="0" anchor="ctr"/>
          <a:lstStyle/>
          <a:p>
            <a:pPr algn="l" indent="0" marL="0">
              <a:lnSpc>
                <a:spcPct val="85000"/>
              </a:lnSpc>
              <a:buNone/>
            </a:pPr>
            <a:r>
              <a:rPr lang="en-US" sz="700" b="1" dirty="0">
                <a:solidFill>
                  <a:srgbClr val="243A5E"/>
                </a:solidFill>
                <a:latin typeface="Segoe UI" pitchFamily="34" charset="0"/>
                <a:ea typeface="Segoe UI" pitchFamily="34" charset="-122"/>
                <a:cs typeface="Segoe UI" pitchFamily="34" charset="-120"/>
              </a:rPr>
              <a:t>Azure Monitor</a:t>
            </a:r>
            <a:endParaRPr lang="en-US" sz="700" dirty="0"/>
          </a:p>
        </p:txBody>
      </p:sp>
      <p:sp>
        <p:nvSpPr>
          <p:cNvPr id="147" name="Text 145"/>
          <p:cNvSpPr/>
          <p:nvPr/>
        </p:nvSpPr>
        <p:spPr>
          <a:xfrm>
            <a:off x="8284464" y="4754880"/>
            <a:ext cx="1467612" cy="466344"/>
          </a:xfrm>
          <a:prstGeom prst="rect">
            <a:avLst/>
          </a:prstGeom>
          <a:noFill/>
          <a:ln/>
        </p:spPr>
        <p:txBody>
          <a:bodyPr wrap="square" lIns="0" tIns="0" rIns="0" bIns="0" rtlCol="0" anchor="t"/>
          <a:lstStyle/>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Application Insights + Log Analytics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diagnostics indexeur, Functions,</a:t>
            </a:r>
            <a:endParaRPr lang="en-US" sz="580" dirty="0"/>
          </a:p>
          <a:p>
            <a:pPr algn="l" indent="0" marL="0">
              <a:lnSpc>
                <a:spcPct val="92000"/>
              </a:lnSpc>
              <a:buNone/>
            </a:pPr>
            <a:r>
              <a:rPr lang="en-US" sz="580" dirty="0">
                <a:solidFill>
                  <a:srgbClr val="605E5C"/>
                </a:solidFill>
                <a:latin typeface="Segoe UI" pitchFamily="34" charset="0"/>
                <a:ea typeface="Segoe UI" pitchFamily="34" charset="-122"/>
                <a:cs typeface="Segoe UI" pitchFamily="34" charset="-120"/>
              </a:rPr>
              <a:t>Logic App</a:t>
            </a:r>
            <a:endParaRPr lang="en-US" sz="580" dirty="0"/>
          </a:p>
        </p:txBody>
      </p:sp>
      <p:sp>
        <p:nvSpPr>
          <p:cNvPr id="148" name="Text 146"/>
          <p:cNvSpPr/>
          <p:nvPr/>
        </p:nvSpPr>
        <p:spPr>
          <a:xfrm>
            <a:off x="8206740" y="5340096"/>
            <a:ext cx="1623060" cy="274320"/>
          </a:xfrm>
          <a:prstGeom prst="rect">
            <a:avLst/>
          </a:prstGeom>
          <a:noFill/>
          <a:ln/>
        </p:spPr>
        <p:txBody>
          <a:bodyPr wrap="square" lIns="0" tIns="0" rIns="0" bIns="0" rtlCol="0" anchor="t"/>
          <a:lstStyle/>
          <a:p>
            <a:pPr algn="l" indent="0" marL="0">
              <a:lnSpc>
                <a:spcPct val="95000"/>
              </a:lnSpc>
              <a:buNone/>
            </a:pPr>
            <a:r>
              <a:rPr lang="en-US" sz="600" i="1" dirty="0">
                <a:solidFill>
                  <a:srgbClr val="8A8886"/>
                </a:solidFill>
                <a:latin typeface="Segoe UI" pitchFamily="34" charset="0"/>
                <a:ea typeface="Segoe UI" pitchFamily="34" charset="-122"/>
                <a:cs typeface="Segoe UI" pitchFamily="34" charset="-120"/>
              </a:rPr>
              <a:t>Reçoit la télémétrie de l'ensemble des composants Azure ci-contre.</a:t>
            </a:r>
            <a:endParaRPr lang="en-US" sz="600" dirty="0"/>
          </a:p>
        </p:txBody>
      </p:sp>
      <p:sp>
        <p:nvSpPr>
          <p:cNvPr id="149" name="Text 147"/>
          <p:cNvSpPr/>
          <p:nvPr/>
        </p:nvSpPr>
        <p:spPr>
          <a:xfrm>
            <a:off x="320040" y="5888736"/>
            <a:ext cx="1828800" cy="182880"/>
          </a:xfrm>
          <a:prstGeom prst="rect">
            <a:avLst/>
          </a:prstGeom>
          <a:noFill/>
          <a:ln/>
        </p:spPr>
        <p:txBody>
          <a:bodyPr wrap="square" lIns="0" tIns="0" rIns="0" bIns="0" rtlCol="0" anchor="ctr"/>
          <a:lstStyle/>
          <a:p>
            <a:pPr algn="l" indent="0" marL="0">
              <a:buNone/>
            </a:pPr>
            <a:r>
              <a:rPr lang="en-US" sz="800" b="1" dirty="0">
                <a:solidFill>
                  <a:srgbClr val="243A5E"/>
                </a:solidFill>
                <a:latin typeface="Segoe UI" pitchFamily="34" charset="0"/>
                <a:ea typeface="Segoe UI" pitchFamily="34" charset="-122"/>
                <a:cs typeface="Segoe UI" pitchFamily="34" charset="-120"/>
              </a:rPr>
              <a:t>Légende</a:t>
            </a:r>
            <a:endParaRPr lang="en-US" sz="800" dirty="0"/>
          </a:p>
        </p:txBody>
      </p:sp>
      <p:sp>
        <p:nvSpPr>
          <p:cNvPr id="150" name="Shape 148"/>
          <p:cNvSpPr/>
          <p:nvPr/>
        </p:nvSpPr>
        <p:spPr>
          <a:xfrm>
            <a:off x="320040" y="6117336"/>
            <a:ext cx="182880" cy="128016"/>
          </a:xfrm>
          <a:prstGeom prst="roundRect">
            <a:avLst>
              <a:gd name="adj" fmla="val 21429"/>
            </a:avLst>
          </a:prstGeom>
          <a:solidFill>
            <a:srgbClr val="FFFFFF"/>
          </a:solidFill>
          <a:ln w="12700">
            <a:solidFill>
              <a:srgbClr val="0078D4"/>
            </a:solidFill>
            <a:prstDash val="solid"/>
          </a:ln>
        </p:spPr>
      </p:sp>
      <p:sp>
        <p:nvSpPr>
          <p:cNvPr id="151" name="Text 149"/>
          <p:cNvSpPr/>
          <p:nvPr/>
        </p:nvSpPr>
        <p:spPr>
          <a:xfrm>
            <a:off x="56692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Service Azure managé</a:t>
            </a:r>
            <a:endParaRPr lang="en-US" sz="700" dirty="0"/>
          </a:p>
        </p:txBody>
      </p:sp>
      <p:sp>
        <p:nvSpPr>
          <p:cNvPr id="152" name="Shape 150"/>
          <p:cNvSpPr/>
          <p:nvPr/>
        </p:nvSpPr>
        <p:spPr>
          <a:xfrm>
            <a:off x="1874520" y="6117336"/>
            <a:ext cx="182880" cy="128016"/>
          </a:xfrm>
          <a:prstGeom prst="roundRect">
            <a:avLst>
              <a:gd name="adj" fmla="val 21429"/>
            </a:avLst>
          </a:prstGeom>
          <a:solidFill>
            <a:srgbClr val="FFFFFF"/>
          </a:solidFill>
          <a:ln w="12700">
            <a:solidFill>
              <a:srgbClr val="107C41"/>
            </a:solidFill>
            <a:prstDash val="solid"/>
          </a:ln>
        </p:spPr>
      </p:sp>
      <p:sp>
        <p:nvSpPr>
          <p:cNvPr id="153" name="Text 151"/>
          <p:cNvSpPr/>
          <p:nvPr/>
        </p:nvSpPr>
        <p:spPr>
          <a:xfrm>
            <a:off x="212140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Microsoft 365 / Power Platform</a:t>
            </a:r>
            <a:endParaRPr lang="en-US" sz="700" dirty="0"/>
          </a:p>
        </p:txBody>
      </p:sp>
      <p:sp>
        <p:nvSpPr>
          <p:cNvPr id="154" name="Shape 152"/>
          <p:cNvSpPr/>
          <p:nvPr/>
        </p:nvSpPr>
        <p:spPr>
          <a:xfrm>
            <a:off x="3977640" y="6117336"/>
            <a:ext cx="182880" cy="128016"/>
          </a:xfrm>
          <a:prstGeom prst="roundRect">
            <a:avLst>
              <a:gd name="adj" fmla="val 21429"/>
            </a:avLst>
          </a:prstGeom>
          <a:solidFill>
            <a:srgbClr val="FFFFFF"/>
          </a:solidFill>
          <a:ln w="12700">
            <a:solidFill>
              <a:srgbClr val="605E5C"/>
            </a:solidFill>
            <a:prstDash val="solid"/>
          </a:ln>
        </p:spPr>
      </p:sp>
      <p:sp>
        <p:nvSpPr>
          <p:cNvPr id="155" name="Text 153"/>
          <p:cNvSpPr/>
          <p:nvPr/>
        </p:nvSpPr>
        <p:spPr>
          <a:xfrm>
            <a:off x="422452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Acteur ou source hors Azure</a:t>
            </a:r>
            <a:endParaRPr lang="en-US" sz="700" dirty="0"/>
          </a:p>
        </p:txBody>
      </p:sp>
      <p:sp>
        <p:nvSpPr>
          <p:cNvPr id="156" name="Shape 154"/>
          <p:cNvSpPr/>
          <p:nvPr/>
        </p:nvSpPr>
        <p:spPr>
          <a:xfrm>
            <a:off x="5897880" y="6117336"/>
            <a:ext cx="182880" cy="128016"/>
          </a:xfrm>
          <a:prstGeom prst="roundRect">
            <a:avLst>
              <a:gd name="adj" fmla="val 21429"/>
            </a:avLst>
          </a:prstGeom>
          <a:solidFill>
            <a:srgbClr val="F3F2F1"/>
          </a:solidFill>
          <a:ln w="12700">
            <a:solidFill>
              <a:srgbClr val="B3B3B3"/>
            </a:solidFill>
            <a:prstDash val="dash"/>
          </a:ln>
        </p:spPr>
      </p:sp>
      <p:sp>
        <p:nvSpPr>
          <p:cNvPr id="157" name="Text 155"/>
          <p:cNvSpPr/>
          <p:nvPr/>
        </p:nvSpPr>
        <p:spPr>
          <a:xfrm>
            <a:off x="6144768" y="6089904"/>
            <a:ext cx="2423160" cy="182880"/>
          </a:xfrm>
          <a:prstGeom prst="rect">
            <a:avLst/>
          </a:prstGeom>
          <a:noFill/>
          <a:ln/>
        </p:spPr>
        <p:txBody>
          <a:bodyPr wrap="square" lIns="0" tIns="0" rIns="0" bIns="0" rtlCol="0" anchor="ctr"/>
          <a:lstStyle/>
          <a:p>
            <a:pPr algn="l" indent="0" marL="0">
              <a:buNone/>
            </a:pPr>
            <a:r>
              <a:rPr lang="en-US" sz="700" dirty="0">
                <a:solidFill>
                  <a:srgbClr val="243A5E"/>
                </a:solidFill>
                <a:latin typeface="Segoe UI" pitchFamily="34" charset="0"/>
                <a:ea typeface="Segoe UI" pitchFamily="34" charset="-122"/>
                <a:cs typeface="Segoe UI" pitchFamily="34" charset="-120"/>
              </a:rPr>
              <a:t>Emplacement réservé au logo — à remplacer</a:t>
            </a:r>
            <a:endParaRPr lang="en-US" sz="700" dirty="0"/>
          </a:p>
        </p:txBody>
      </p:sp>
      <p:sp>
        <p:nvSpPr>
          <p:cNvPr id="158" name="Text 156"/>
          <p:cNvSpPr/>
          <p:nvPr/>
        </p:nvSpPr>
        <p:spPr>
          <a:xfrm>
            <a:off x="320040" y="6382512"/>
            <a:ext cx="11521440" cy="201168"/>
          </a:xfrm>
          <a:prstGeom prst="rect">
            <a:avLst/>
          </a:prstGeom>
          <a:noFill/>
          <a:ln/>
        </p:spPr>
        <p:txBody>
          <a:bodyPr wrap="square" lIns="0" tIns="0" rIns="0" bIns="0" rtlCol="0" anchor="ctr"/>
          <a:lstStyle/>
          <a:p>
            <a:pPr algn="l" indent="0" marL="0">
              <a:buNone/>
            </a:pPr>
            <a:r>
              <a:rPr lang="en-US" sz="700" i="1" dirty="0">
                <a:solidFill>
                  <a:srgbClr val="605E5C"/>
                </a:solidFill>
                <a:latin typeface="Segoe UI" pitchFamily="34" charset="0"/>
                <a:ea typeface="Segoe UI" pitchFamily="34" charset="-122"/>
                <a:cs typeface="Segoe UI" pitchFamily="34" charset="-120"/>
              </a:rPr>
              <a:t>Trait plein bleu = flux de données principal   ·   trait violet = exécution du skillset par l'indexeur   ·   trait pointillé = appel de service ou chemin alternatif   ·   les pastilles 1 à 11 renvoient au détail de l'étape (slide suivante).</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9144000" cy="310896"/>
          </a:xfrm>
          <a:prstGeom prst="rect">
            <a:avLst/>
          </a:prstGeom>
          <a:noFill/>
          <a:ln/>
        </p:spPr>
        <p:txBody>
          <a:bodyPr wrap="square" lIns="0" tIns="0" rIns="0" bIns="0" rtlCol="0" anchor="ctr"/>
          <a:lstStyle/>
          <a:p>
            <a:pPr algn="l" indent="0" marL="0">
              <a:buNone/>
            </a:pPr>
            <a:r>
              <a:rPr lang="en-US" sz="1900" b="1" dirty="0">
                <a:solidFill>
                  <a:srgbClr val="243A5E"/>
                </a:solidFill>
                <a:latin typeface="Segoe UI" pitchFamily="34" charset="0"/>
                <a:ea typeface="Segoe UI" pitchFamily="34" charset="-122"/>
                <a:cs typeface="Segoe UI" pitchFamily="34" charset="-120"/>
              </a:rPr>
              <a:t>Flux de données, étape par étape</a:t>
            </a:r>
            <a:endParaRPr lang="en-US" sz="1900" dirty="0"/>
          </a:p>
        </p:txBody>
      </p:sp>
      <p:sp>
        <p:nvSpPr>
          <p:cNvPr id="3" name="Text 1"/>
          <p:cNvSpPr/>
          <p:nvPr/>
        </p:nvSpPr>
        <p:spPr>
          <a:xfrm>
            <a:off x="320040" y="530352"/>
            <a:ext cx="10607040" cy="201168"/>
          </a:xfrm>
          <a:prstGeom prst="rect">
            <a:avLst/>
          </a:prstGeom>
          <a:noFill/>
          <a:ln/>
        </p:spPr>
        <p:txBody>
          <a:bodyPr wrap="square" lIns="0" tIns="0" rIns="0" bIns="0" rtlCol="0" anchor="ctr"/>
          <a:lstStyle/>
          <a:p>
            <a:pPr algn="l" indent="0" marL="0">
              <a:buNone/>
            </a:pPr>
            <a:r>
              <a:rPr lang="en-US" sz="900" dirty="0">
                <a:solidFill>
                  <a:srgbClr val="605E5C"/>
                </a:solidFill>
                <a:latin typeface="Segoe UI" pitchFamily="34" charset="0"/>
                <a:ea typeface="Segoe UI" pitchFamily="34" charset="-122"/>
                <a:cs typeface="Segoe UI" pitchFamily="34" charset="-120"/>
              </a:rPr>
              <a:t>Justification de chaque choix d'architecture. Chaque numéro correspond à une pastille du schéma précédent.</a:t>
            </a:r>
            <a:endParaRPr lang="en-US" sz="900" dirty="0"/>
          </a:p>
        </p:txBody>
      </p:sp>
      <p:sp>
        <p:nvSpPr>
          <p:cNvPr id="4" name="Text 2"/>
          <p:cNvSpPr/>
          <p:nvPr/>
        </p:nvSpPr>
        <p:spPr>
          <a:xfrm>
            <a:off x="9555480" y="237744"/>
            <a:ext cx="1645920" cy="201168"/>
          </a:xfrm>
          <a:prstGeom prst="rect">
            <a:avLst/>
          </a:prstGeom>
          <a:noFill/>
          <a:ln/>
        </p:spPr>
        <p:txBody>
          <a:bodyPr wrap="square" lIns="0" tIns="0" rIns="0" bIns="0" rtlCol="0" anchor="ctr"/>
          <a:lstStyle/>
          <a:p>
            <a:pPr algn="r" indent="0" marL="0">
              <a:buNone/>
            </a:pPr>
            <a:r>
              <a:rPr lang="en-US" sz="750" dirty="0">
                <a:solidFill>
                  <a:srgbClr val="8A8886"/>
                </a:solidFill>
                <a:latin typeface="Segoe UI" pitchFamily="34" charset="0"/>
                <a:ea typeface="Segoe UI" pitchFamily="34" charset="-122"/>
                <a:cs typeface="Segoe UI" pitchFamily="34" charset="-120"/>
              </a:rPr>
              <a:t>Soufyane Dardaz  ·  v2.0</a:t>
            </a:r>
            <a:endParaRPr lang="en-US" sz="750" dirty="0"/>
          </a:p>
        </p:txBody>
      </p:sp>
      <p:sp>
        <p:nvSpPr>
          <p:cNvPr id="5" name="Shape 3"/>
          <p:cNvSpPr/>
          <p:nvPr/>
        </p:nvSpPr>
        <p:spPr>
          <a:xfrm>
            <a:off x="11292840" y="219456"/>
            <a:ext cx="548640" cy="548640"/>
          </a:xfrm>
          <a:prstGeom prst="roundRect">
            <a:avLst>
              <a:gd name="adj" fmla="val 5000"/>
            </a:avLst>
          </a:prstGeom>
          <a:solidFill>
            <a:srgbClr val="F3F2F1"/>
          </a:solidFill>
          <a:ln w="9525">
            <a:solidFill>
              <a:srgbClr val="B3B3B3"/>
            </a:solidFill>
            <a:prstDash val="dash"/>
          </a:ln>
        </p:spPr>
      </p:sp>
      <p:sp>
        <p:nvSpPr>
          <p:cNvPr id="6" name="Text 4"/>
          <p:cNvSpPr/>
          <p:nvPr/>
        </p:nvSpPr>
        <p:spPr>
          <a:xfrm>
            <a:off x="11292840" y="219456"/>
            <a:ext cx="548640" cy="548640"/>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a:p>
            <a:pPr algn="ctr" indent="0" marL="0">
              <a:buNone/>
            </a:pPr>
            <a:r>
              <a:rPr lang="en-US" sz="450" dirty="0">
                <a:solidFill>
                  <a:srgbClr val="8A8886"/>
                </a:solidFill>
                <a:latin typeface="Segoe UI" pitchFamily="34" charset="0"/>
                <a:ea typeface="Segoe UI" pitchFamily="34" charset="-122"/>
                <a:cs typeface="Segoe UI" pitchFamily="34" charset="-120"/>
              </a:rPr>
              <a:t>ORG</a:t>
            </a:r>
            <a:endParaRPr lang="en-US" sz="450" dirty="0"/>
          </a:p>
        </p:txBody>
      </p:sp>
      <p:sp>
        <p:nvSpPr>
          <p:cNvPr id="7" name="Shape 5"/>
          <p:cNvSpPr/>
          <p:nvPr/>
        </p:nvSpPr>
        <p:spPr>
          <a:xfrm>
            <a:off x="320040" y="1014984"/>
            <a:ext cx="256032" cy="256032"/>
          </a:xfrm>
          <a:prstGeom prst="ellipse">
            <a:avLst/>
          </a:prstGeom>
          <a:solidFill>
            <a:srgbClr val="0078D4"/>
          </a:solidFill>
          <a:ln w="12700">
            <a:solidFill>
              <a:srgbClr val="0078D4"/>
            </a:solidFill>
            <a:prstDash val="solid"/>
          </a:ln>
        </p:spPr>
      </p:sp>
      <p:sp>
        <p:nvSpPr>
          <p:cNvPr id="8" name="Text 6"/>
          <p:cNvSpPr/>
          <p:nvPr/>
        </p:nvSpPr>
        <p:spPr>
          <a:xfrm>
            <a:off x="320040" y="10149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9" name="Text 7"/>
          <p:cNvSpPr/>
          <p:nvPr/>
        </p:nvSpPr>
        <p:spPr>
          <a:xfrm>
            <a:off x="667512" y="969264"/>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SharePoint dans Microsoft 365 — source</a:t>
            </a:r>
            <a:endParaRPr lang="en-US" sz="1000" dirty="0"/>
          </a:p>
        </p:txBody>
      </p:sp>
      <p:sp>
        <p:nvSpPr>
          <p:cNvPr id="10" name="Text 8"/>
          <p:cNvSpPr/>
          <p:nvPr/>
        </p:nvSpPr>
        <p:spPr>
          <a:xfrm>
            <a:off x="667512" y="1188720"/>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Les documents restent gérés là où le métier les gère déjà : droits, cycle de vie et versioning ne sont pas dupliqués. Aucune migration de contenu n'est nécessaire.</a:t>
            </a:r>
            <a:endParaRPr lang="en-US" sz="800" dirty="0"/>
          </a:p>
        </p:txBody>
      </p:sp>
      <p:sp>
        <p:nvSpPr>
          <p:cNvPr id="11" name="Shape 9"/>
          <p:cNvSpPr/>
          <p:nvPr/>
        </p:nvSpPr>
        <p:spPr>
          <a:xfrm>
            <a:off x="6428232" y="1014984"/>
            <a:ext cx="256032" cy="256032"/>
          </a:xfrm>
          <a:prstGeom prst="ellipse">
            <a:avLst/>
          </a:prstGeom>
          <a:solidFill>
            <a:srgbClr val="0078D4"/>
          </a:solidFill>
          <a:ln w="12700">
            <a:solidFill>
              <a:srgbClr val="0078D4"/>
            </a:solidFill>
            <a:prstDash val="solid"/>
          </a:ln>
        </p:spPr>
      </p:sp>
      <p:sp>
        <p:nvSpPr>
          <p:cNvPr id="12" name="Text 10"/>
          <p:cNvSpPr/>
          <p:nvPr/>
        </p:nvSpPr>
        <p:spPr>
          <a:xfrm>
            <a:off x="6428232" y="10149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Text 11"/>
          <p:cNvSpPr/>
          <p:nvPr/>
        </p:nvSpPr>
        <p:spPr>
          <a:xfrm>
            <a:off x="6775704" y="969264"/>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Azure Logic Apps — synchronisation incrémentale</a:t>
            </a:r>
            <a:endParaRPr lang="en-US" sz="1000" dirty="0"/>
          </a:p>
        </p:txBody>
      </p:sp>
      <p:sp>
        <p:nvSpPr>
          <p:cNvPr id="14" name="Text 12"/>
          <p:cNvSpPr/>
          <p:nvPr/>
        </p:nvSpPr>
        <p:spPr>
          <a:xfrm>
            <a:off x="6775704" y="1188720"/>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Déclencheur récurrent + requête delta Microsoft Graph : seuls les fichiers créés ou modifiés sont traités. Authentification par identité managée (permission Graph Sites.Selected), sans connecteur OAuth à réautoriser.</a:t>
            </a:r>
            <a:endParaRPr lang="en-US" sz="800" dirty="0"/>
          </a:p>
        </p:txBody>
      </p:sp>
      <p:sp>
        <p:nvSpPr>
          <p:cNvPr id="15" name="Shape 13"/>
          <p:cNvSpPr/>
          <p:nvPr/>
        </p:nvSpPr>
        <p:spPr>
          <a:xfrm>
            <a:off x="320040" y="1911096"/>
            <a:ext cx="256032" cy="256032"/>
          </a:xfrm>
          <a:prstGeom prst="ellipse">
            <a:avLst/>
          </a:prstGeom>
          <a:solidFill>
            <a:srgbClr val="0078D4"/>
          </a:solidFill>
          <a:ln w="12700">
            <a:solidFill>
              <a:srgbClr val="0078D4"/>
            </a:solidFill>
            <a:prstDash val="solid"/>
          </a:ln>
        </p:spPr>
      </p:sp>
      <p:sp>
        <p:nvSpPr>
          <p:cNvPr id="16" name="Text 14"/>
          <p:cNvSpPr/>
          <p:nvPr/>
        </p:nvSpPr>
        <p:spPr>
          <a:xfrm>
            <a:off x="320040" y="191109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7" name="Text 15"/>
          <p:cNvSpPr/>
          <p:nvPr/>
        </p:nvSpPr>
        <p:spPr>
          <a:xfrm>
            <a:off x="667512" y="1865376"/>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Azure Blob Storage — zone d'atterrissage</a:t>
            </a:r>
            <a:endParaRPr lang="en-US" sz="1000" dirty="0"/>
          </a:p>
        </p:txBody>
      </p:sp>
      <p:sp>
        <p:nvSpPr>
          <p:cNvPr id="18" name="Text 16"/>
          <p:cNvSpPr/>
          <p:nvPr/>
        </p:nvSpPr>
        <p:spPr>
          <a:xfrm>
            <a:off x="667512" y="2084832"/>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Point d'entrée unique quelle que soit l'origine (SharePoint, CLI, dépôt manuel). Compte Azure Data Lake Storage Gen2 lorsque le filtrage par droits est activé. Le soft-delete natif sert de politique de détection de suppression.</a:t>
            </a:r>
            <a:endParaRPr lang="en-US" sz="800" dirty="0"/>
          </a:p>
        </p:txBody>
      </p:sp>
      <p:sp>
        <p:nvSpPr>
          <p:cNvPr id="19" name="Shape 17"/>
          <p:cNvSpPr/>
          <p:nvPr/>
        </p:nvSpPr>
        <p:spPr>
          <a:xfrm>
            <a:off x="6428232" y="1911096"/>
            <a:ext cx="256032" cy="256032"/>
          </a:xfrm>
          <a:prstGeom prst="ellipse">
            <a:avLst/>
          </a:prstGeom>
          <a:solidFill>
            <a:srgbClr val="0078D4"/>
          </a:solidFill>
          <a:ln w="12700">
            <a:solidFill>
              <a:srgbClr val="0078D4"/>
            </a:solidFill>
            <a:prstDash val="solid"/>
          </a:ln>
        </p:spPr>
      </p:sp>
      <p:sp>
        <p:nvSpPr>
          <p:cNvPr id="20" name="Text 18"/>
          <p:cNvSpPr/>
          <p:nvPr/>
        </p:nvSpPr>
        <p:spPr>
          <a:xfrm>
            <a:off x="6428232" y="191109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4</a:t>
            </a:r>
            <a:endParaRPr lang="en-US" sz="900" dirty="0"/>
          </a:p>
        </p:txBody>
      </p:sp>
      <p:sp>
        <p:nvSpPr>
          <p:cNvPr id="21" name="Text 19"/>
          <p:cNvSpPr/>
          <p:nvPr/>
        </p:nvSpPr>
        <p:spPr>
          <a:xfrm>
            <a:off x="6775704" y="1865376"/>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Indexeur Azure AI Search — orchestrateur managé</a:t>
            </a:r>
            <a:endParaRPr lang="en-US" sz="1000" dirty="0"/>
          </a:p>
        </p:txBody>
      </p:sp>
      <p:sp>
        <p:nvSpPr>
          <p:cNvPr id="22" name="Text 20"/>
          <p:cNvSpPr/>
          <p:nvPr/>
        </p:nvSpPr>
        <p:spPr>
          <a:xfrm>
            <a:off x="6775704" y="2084832"/>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Le service Microsoft porte la planification, le suivi des changements, les relances et le traitement par lots. Aucun orchestrateur maison à héberger, patcher ni superviser.</a:t>
            </a:r>
            <a:endParaRPr lang="en-US" sz="800" dirty="0"/>
          </a:p>
        </p:txBody>
      </p:sp>
      <p:sp>
        <p:nvSpPr>
          <p:cNvPr id="23" name="Shape 21"/>
          <p:cNvSpPr/>
          <p:nvPr/>
        </p:nvSpPr>
        <p:spPr>
          <a:xfrm>
            <a:off x="320040" y="2807208"/>
            <a:ext cx="256032" cy="256032"/>
          </a:xfrm>
          <a:prstGeom prst="ellipse">
            <a:avLst/>
          </a:prstGeom>
          <a:solidFill>
            <a:srgbClr val="0078D4"/>
          </a:solidFill>
          <a:ln w="12700">
            <a:solidFill>
              <a:srgbClr val="0078D4"/>
            </a:solidFill>
            <a:prstDash val="solid"/>
          </a:ln>
        </p:spPr>
      </p:sp>
      <p:sp>
        <p:nvSpPr>
          <p:cNvPr id="24" name="Text 22"/>
          <p:cNvSpPr/>
          <p:nvPr/>
        </p:nvSpPr>
        <p:spPr>
          <a:xfrm>
            <a:off x="320040" y="28072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5</a:t>
            </a:r>
            <a:endParaRPr lang="en-US" sz="900" dirty="0"/>
          </a:p>
        </p:txBody>
      </p:sp>
      <p:sp>
        <p:nvSpPr>
          <p:cNvPr id="25" name="Text 23"/>
          <p:cNvSpPr/>
          <p:nvPr/>
        </p:nvSpPr>
        <p:spPr>
          <a:xfrm>
            <a:off x="667512" y="2761488"/>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Document Extractor »</a:t>
            </a:r>
            <a:endParaRPr lang="en-US" sz="1000" dirty="0"/>
          </a:p>
        </p:txBody>
      </p:sp>
      <p:sp>
        <p:nvSpPr>
          <p:cNvPr id="26" name="Text 24"/>
          <p:cNvSpPr/>
          <p:nvPr/>
        </p:nvSpPr>
        <p:spPr>
          <a:xfrm>
            <a:off x="667512" y="2980944"/>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Un seul composant connaît tous les formats : PDF, DOCX, PPTX, XLSX, PNG / JPG, HTML, JSON, CSV, TXT / MD. Les tableaux sont convertis en HTML pour préserver leur structure ; les figures sont localisées par coordonnées.</a:t>
            </a:r>
            <a:endParaRPr lang="en-US" sz="800" dirty="0"/>
          </a:p>
        </p:txBody>
      </p:sp>
      <p:sp>
        <p:nvSpPr>
          <p:cNvPr id="27" name="Shape 25"/>
          <p:cNvSpPr/>
          <p:nvPr/>
        </p:nvSpPr>
        <p:spPr>
          <a:xfrm>
            <a:off x="6428232" y="2807208"/>
            <a:ext cx="256032" cy="256032"/>
          </a:xfrm>
          <a:prstGeom prst="ellipse">
            <a:avLst/>
          </a:prstGeom>
          <a:solidFill>
            <a:srgbClr val="0078D4"/>
          </a:solidFill>
          <a:ln w="12700">
            <a:solidFill>
              <a:srgbClr val="0078D4"/>
            </a:solidFill>
            <a:prstDash val="solid"/>
          </a:ln>
        </p:spPr>
      </p:sp>
      <p:sp>
        <p:nvSpPr>
          <p:cNvPr id="28" name="Text 26"/>
          <p:cNvSpPr/>
          <p:nvPr/>
        </p:nvSpPr>
        <p:spPr>
          <a:xfrm>
            <a:off x="6428232" y="28072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6</a:t>
            </a:r>
            <a:endParaRPr lang="en-US" sz="900" dirty="0"/>
          </a:p>
        </p:txBody>
      </p:sp>
      <p:sp>
        <p:nvSpPr>
          <p:cNvPr id="29" name="Text 27"/>
          <p:cNvSpPr/>
          <p:nvPr/>
        </p:nvSpPr>
        <p:spPr>
          <a:xfrm>
            <a:off x="6775704" y="2761488"/>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Figure Processor »</a:t>
            </a:r>
            <a:endParaRPr lang="en-US" sz="1000" dirty="0"/>
          </a:p>
        </p:txBody>
      </p:sp>
      <p:sp>
        <p:nvSpPr>
          <p:cNvPr id="30" name="Text 28"/>
          <p:cNvSpPr/>
          <p:nvPr/>
        </p:nvSpPr>
        <p:spPr>
          <a:xfrm>
            <a:off x="6775704" y="2980944"/>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Graphiques, schémas et photos deviennent du texte recherchable (description générée par un modèle vision) et, en option, des vecteurs d'image. Sans cette étape, tout le contenu visuel serait invisible pour la recherche.</a:t>
            </a:r>
            <a:endParaRPr lang="en-US" sz="800" dirty="0"/>
          </a:p>
        </p:txBody>
      </p:sp>
      <p:sp>
        <p:nvSpPr>
          <p:cNvPr id="31" name="Shape 29"/>
          <p:cNvSpPr/>
          <p:nvPr/>
        </p:nvSpPr>
        <p:spPr>
          <a:xfrm>
            <a:off x="320040" y="3703320"/>
            <a:ext cx="256032" cy="256032"/>
          </a:xfrm>
          <a:prstGeom prst="ellipse">
            <a:avLst/>
          </a:prstGeom>
          <a:solidFill>
            <a:srgbClr val="0078D4"/>
          </a:solidFill>
          <a:ln w="12700">
            <a:solidFill>
              <a:srgbClr val="0078D4"/>
            </a:solidFill>
            <a:prstDash val="solid"/>
          </a:ln>
        </p:spPr>
      </p:sp>
      <p:sp>
        <p:nvSpPr>
          <p:cNvPr id="32" name="Text 30"/>
          <p:cNvSpPr/>
          <p:nvPr/>
        </p:nvSpPr>
        <p:spPr>
          <a:xfrm>
            <a:off x="320040" y="370332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7</a:t>
            </a:r>
            <a:endParaRPr lang="en-US" sz="900" dirty="0"/>
          </a:p>
        </p:txBody>
      </p:sp>
      <p:sp>
        <p:nvSpPr>
          <p:cNvPr id="33" name="Text 31"/>
          <p:cNvSpPr/>
          <p:nvPr/>
        </p:nvSpPr>
        <p:spPr>
          <a:xfrm>
            <a:off x="667512" y="3657600"/>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Shaper » (intégrée Microsoft)</a:t>
            </a:r>
            <a:endParaRPr lang="en-US" sz="1000" dirty="0"/>
          </a:p>
        </p:txBody>
      </p:sp>
      <p:sp>
        <p:nvSpPr>
          <p:cNvPr id="34" name="Text 32"/>
          <p:cNvSpPr/>
          <p:nvPr/>
        </p:nvSpPr>
        <p:spPr>
          <a:xfrm>
            <a:off x="667512" y="3877056"/>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Compétence native, sans code : consolide pages, figures et métadonnées en un objet unique. Réduit d'autant la surface de code personnalisé à maintenir.</a:t>
            </a:r>
            <a:endParaRPr lang="en-US" sz="800" dirty="0"/>
          </a:p>
        </p:txBody>
      </p:sp>
      <p:sp>
        <p:nvSpPr>
          <p:cNvPr id="35" name="Shape 33"/>
          <p:cNvSpPr/>
          <p:nvPr/>
        </p:nvSpPr>
        <p:spPr>
          <a:xfrm>
            <a:off x="6428232" y="3703320"/>
            <a:ext cx="256032" cy="256032"/>
          </a:xfrm>
          <a:prstGeom prst="ellipse">
            <a:avLst/>
          </a:prstGeom>
          <a:solidFill>
            <a:srgbClr val="0078D4"/>
          </a:solidFill>
          <a:ln w="12700">
            <a:solidFill>
              <a:srgbClr val="0078D4"/>
            </a:solidFill>
            <a:prstDash val="solid"/>
          </a:ln>
        </p:spPr>
      </p:sp>
      <p:sp>
        <p:nvSpPr>
          <p:cNvPr id="36" name="Text 34"/>
          <p:cNvSpPr/>
          <p:nvPr/>
        </p:nvSpPr>
        <p:spPr>
          <a:xfrm>
            <a:off x="6428232" y="370332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8</a:t>
            </a:r>
            <a:endParaRPr lang="en-US" sz="900" dirty="0"/>
          </a:p>
        </p:txBody>
      </p:sp>
      <p:sp>
        <p:nvSpPr>
          <p:cNvPr id="37" name="Text 35"/>
          <p:cNvSpPr/>
          <p:nvPr/>
        </p:nvSpPr>
        <p:spPr>
          <a:xfrm>
            <a:off x="6775704" y="3657600"/>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Compétence « Text Processor »</a:t>
            </a:r>
            <a:endParaRPr lang="en-US" sz="1000" dirty="0"/>
          </a:p>
        </p:txBody>
      </p:sp>
      <p:sp>
        <p:nvSpPr>
          <p:cNvPr id="38" name="Text 36"/>
          <p:cNvSpPr/>
          <p:nvPr/>
        </p:nvSpPr>
        <p:spPr>
          <a:xfrm>
            <a:off x="6775704" y="3877056"/>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Découpe en chunks respectant les frontières de phrases, puis calcule les embeddings (text-embedding-3-large, 3072 dimensions). Le découpage conditionne directement la pertinence ; les vecteurs sont calculés une seule fois, à l'ingestion.</a:t>
            </a:r>
            <a:endParaRPr lang="en-US" sz="800" dirty="0"/>
          </a:p>
        </p:txBody>
      </p:sp>
      <p:sp>
        <p:nvSpPr>
          <p:cNvPr id="39" name="Shape 37"/>
          <p:cNvSpPr/>
          <p:nvPr/>
        </p:nvSpPr>
        <p:spPr>
          <a:xfrm>
            <a:off x="320040" y="4599432"/>
            <a:ext cx="256032" cy="256032"/>
          </a:xfrm>
          <a:prstGeom prst="ellipse">
            <a:avLst/>
          </a:prstGeom>
          <a:solidFill>
            <a:srgbClr val="0078D4"/>
          </a:solidFill>
          <a:ln w="12700">
            <a:solidFill>
              <a:srgbClr val="0078D4"/>
            </a:solidFill>
            <a:prstDash val="solid"/>
          </a:ln>
        </p:spPr>
      </p:sp>
      <p:sp>
        <p:nvSpPr>
          <p:cNvPr id="40" name="Text 38"/>
          <p:cNvSpPr/>
          <p:nvPr/>
        </p:nvSpPr>
        <p:spPr>
          <a:xfrm>
            <a:off x="320040" y="4599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9</a:t>
            </a:r>
            <a:endParaRPr lang="en-US" sz="900" dirty="0"/>
          </a:p>
        </p:txBody>
      </p:sp>
      <p:sp>
        <p:nvSpPr>
          <p:cNvPr id="41" name="Text 39"/>
          <p:cNvSpPr/>
          <p:nvPr/>
        </p:nvSpPr>
        <p:spPr>
          <a:xfrm>
            <a:off x="667512" y="4553712"/>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Index Azure AI Search — projection par chunk</a:t>
            </a:r>
            <a:endParaRPr lang="en-US" sz="1000" dirty="0"/>
          </a:p>
        </p:txBody>
      </p:sp>
      <p:sp>
        <p:nvSpPr>
          <p:cNvPr id="42" name="Text 40"/>
          <p:cNvSpPr/>
          <p:nvPr/>
        </p:nvSpPr>
        <p:spPr>
          <a:xfrm>
            <a:off x="667512" y="4773168"/>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1 document d'index = 1 chunk (index projection, documents parents non indexés) : réponses précises et citations au niveau du passage plutôt que du fichier entier. Recherche hybride et ranker sémantique activables.</a:t>
            </a:r>
            <a:endParaRPr lang="en-US" sz="800" dirty="0"/>
          </a:p>
        </p:txBody>
      </p:sp>
      <p:sp>
        <p:nvSpPr>
          <p:cNvPr id="43" name="Shape 41"/>
          <p:cNvSpPr/>
          <p:nvPr/>
        </p:nvSpPr>
        <p:spPr>
          <a:xfrm>
            <a:off x="6428232" y="4599432"/>
            <a:ext cx="256032" cy="256032"/>
          </a:xfrm>
          <a:prstGeom prst="ellipse">
            <a:avLst/>
          </a:prstGeom>
          <a:solidFill>
            <a:srgbClr val="0078D4"/>
          </a:solidFill>
          <a:ln w="12700">
            <a:solidFill>
              <a:srgbClr val="0078D4"/>
            </a:solidFill>
            <a:prstDash val="solid"/>
          </a:ln>
        </p:spPr>
      </p:sp>
      <p:sp>
        <p:nvSpPr>
          <p:cNvPr id="44" name="Text 42"/>
          <p:cNvSpPr/>
          <p:nvPr/>
        </p:nvSpPr>
        <p:spPr>
          <a:xfrm>
            <a:off x="6428232" y="4599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10</a:t>
            </a:r>
            <a:endParaRPr lang="en-US" sz="900" dirty="0"/>
          </a:p>
        </p:txBody>
      </p:sp>
      <p:sp>
        <p:nvSpPr>
          <p:cNvPr id="45" name="Text 43"/>
          <p:cNvSpPr/>
          <p:nvPr/>
        </p:nvSpPr>
        <p:spPr>
          <a:xfrm>
            <a:off x="6775704" y="4553712"/>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Microsoft Copilot Studio — connecteur natif</a:t>
            </a:r>
            <a:endParaRPr lang="en-US" sz="1000" dirty="0"/>
          </a:p>
        </p:txBody>
      </p:sp>
      <p:sp>
        <p:nvSpPr>
          <p:cNvPr id="46" name="Text 44"/>
          <p:cNvSpPr/>
          <p:nvPr/>
        </p:nvSpPr>
        <p:spPr>
          <a:xfrm>
            <a:off x="6775704" y="4773168"/>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Ajout via Connaissances → Azure AI Search, avec authentification Microsoft Entra ID intégrée. Copilot Studio porte l'orchestration, la réponse et les citations : aucun backend de conversation à développer, héberger ni sécuriser.</a:t>
            </a:r>
            <a:endParaRPr lang="en-US" sz="800" dirty="0"/>
          </a:p>
        </p:txBody>
      </p:sp>
      <p:sp>
        <p:nvSpPr>
          <p:cNvPr id="47" name="Shape 45"/>
          <p:cNvSpPr/>
          <p:nvPr/>
        </p:nvSpPr>
        <p:spPr>
          <a:xfrm>
            <a:off x="320040" y="5495544"/>
            <a:ext cx="256032" cy="256032"/>
          </a:xfrm>
          <a:prstGeom prst="ellipse">
            <a:avLst/>
          </a:prstGeom>
          <a:solidFill>
            <a:srgbClr val="0078D4"/>
          </a:solidFill>
          <a:ln w="12700">
            <a:solidFill>
              <a:srgbClr val="0078D4"/>
            </a:solidFill>
            <a:prstDash val="solid"/>
          </a:ln>
        </p:spPr>
      </p:sp>
      <p:sp>
        <p:nvSpPr>
          <p:cNvPr id="48" name="Text 46"/>
          <p:cNvSpPr/>
          <p:nvPr/>
        </p:nvSpPr>
        <p:spPr>
          <a:xfrm>
            <a:off x="320040" y="54955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11</a:t>
            </a:r>
            <a:endParaRPr lang="en-US" sz="900" dirty="0"/>
          </a:p>
        </p:txBody>
      </p:sp>
      <p:sp>
        <p:nvSpPr>
          <p:cNvPr id="49" name="Text 47"/>
          <p:cNvSpPr/>
          <p:nvPr/>
        </p:nvSpPr>
        <p:spPr>
          <a:xfrm>
            <a:off x="667512" y="5449824"/>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Utilisateur métier</a:t>
            </a:r>
            <a:endParaRPr lang="en-US" sz="1000" dirty="0"/>
          </a:p>
        </p:txBody>
      </p:sp>
      <p:sp>
        <p:nvSpPr>
          <p:cNvPr id="50" name="Text 48"/>
          <p:cNvSpPr/>
          <p:nvPr/>
        </p:nvSpPr>
        <p:spPr>
          <a:xfrm>
            <a:off x="667512" y="5669280"/>
            <a:ext cx="5276088" cy="585216"/>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Pose sa question dans Microsoft Teams, sur le web ou dans Microsoft 365, et reçoit une réponse ancrée dans les documents de l'organisation, avec les liens de citation (storageUrl / metadata_storage_path).</a:t>
            </a:r>
            <a:endParaRPr lang="en-US" sz="800" dirty="0"/>
          </a:p>
        </p:txBody>
      </p:sp>
      <p:sp>
        <p:nvSpPr>
          <p:cNvPr id="51" name="Shape 49"/>
          <p:cNvSpPr/>
          <p:nvPr/>
        </p:nvSpPr>
        <p:spPr>
          <a:xfrm>
            <a:off x="6373368" y="5440680"/>
            <a:ext cx="5733288" cy="822960"/>
          </a:xfrm>
          <a:prstGeom prst="roundRect">
            <a:avLst>
              <a:gd name="adj" fmla="val 4444"/>
            </a:avLst>
          </a:prstGeom>
          <a:solidFill>
            <a:srgbClr val="F5F5F5"/>
          </a:solidFill>
          <a:ln w="9525">
            <a:solidFill>
              <a:srgbClr val="B3B3B3"/>
            </a:solidFill>
            <a:prstDash val="dash"/>
          </a:ln>
        </p:spPr>
      </p:sp>
      <p:sp>
        <p:nvSpPr>
          <p:cNvPr id="52" name="Text 50"/>
          <p:cNvSpPr/>
          <p:nvPr/>
        </p:nvSpPr>
        <p:spPr>
          <a:xfrm>
            <a:off x="6720840" y="5486400"/>
            <a:ext cx="5276088" cy="201168"/>
          </a:xfrm>
          <a:prstGeom prst="rect">
            <a:avLst/>
          </a:prstGeom>
          <a:noFill/>
          <a:ln/>
        </p:spPr>
        <p:txBody>
          <a:bodyPr wrap="square" lIns="0" tIns="0" rIns="0" bIns="0" rtlCol="0" anchor="ctr"/>
          <a:lstStyle/>
          <a:p>
            <a:pPr algn="l" indent="0" marL="0">
              <a:buNone/>
            </a:pPr>
            <a:r>
              <a:rPr lang="en-US" sz="1000" b="1" dirty="0">
                <a:solidFill>
                  <a:srgbClr val="243A5E"/>
                </a:solidFill>
                <a:latin typeface="Segoe UI" pitchFamily="34" charset="0"/>
                <a:ea typeface="Segoe UI" pitchFamily="34" charset="-122"/>
                <a:cs typeface="Segoe UI" pitchFamily="34" charset="-120"/>
              </a:rPr>
              <a:t>Chemin alternatif : ingestion locale (CLI)</a:t>
            </a:r>
            <a:endParaRPr lang="en-US" sz="1000" dirty="0"/>
          </a:p>
        </p:txBody>
      </p:sp>
      <p:sp>
        <p:nvSpPr>
          <p:cNvPr id="53" name="Text 51"/>
          <p:cNvSpPr/>
          <p:nvPr/>
        </p:nvSpPr>
        <p:spPr>
          <a:xfrm>
            <a:off x="6720840" y="5705856"/>
            <a:ext cx="5276088" cy="530352"/>
          </a:xfrm>
          <a:prstGeom prst="rect">
            <a:avLst/>
          </a:prstGeom>
          <a:noFill/>
          <a:ln/>
        </p:spPr>
        <p:txBody>
          <a:bodyPr wrap="square" lIns="0" tIns="0" rIns="0" bIns="0" rtlCol="0" anchor="t"/>
          <a:lstStyle/>
          <a:p>
            <a:pPr algn="l" indent="0" marL="0">
              <a:lnSpc>
                <a:spcPct val="97000"/>
              </a:lnSpc>
              <a:buNone/>
            </a:pPr>
            <a:r>
              <a:rPr lang="en-US" sz="800" dirty="0">
                <a:solidFill>
                  <a:srgbClr val="605E5C"/>
                </a:solidFill>
                <a:latin typeface="Segoe UI" pitchFamily="34" charset="0"/>
                <a:ea typeface="Segoe UI" pitchFamily="34" charset="-122"/>
                <a:cs typeface="Segoe UI" pitchFamily="34" charset="-120"/>
              </a:rPr>
              <a:t>prepdocs.py exécute la même bibliothèque de traitement (prepdocslib) depuis un poste ou un agent CI et écrit directement dans l'index. Utile pour une maquette ou un corpus figé, sans Functions ni Logic App (USE_CLOUD_INGESTION=false).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0040" y="182880"/>
            <a:ext cx="9144000" cy="310896"/>
          </a:xfrm>
          <a:prstGeom prst="rect">
            <a:avLst/>
          </a:prstGeom>
          <a:noFill/>
          <a:ln/>
        </p:spPr>
        <p:txBody>
          <a:bodyPr wrap="square" lIns="0" tIns="0" rIns="0" bIns="0" rtlCol="0" anchor="ctr"/>
          <a:lstStyle/>
          <a:p>
            <a:pPr algn="l" indent="0" marL="0">
              <a:buNone/>
            </a:pPr>
            <a:r>
              <a:rPr lang="en-US" sz="1900" b="1" dirty="0">
                <a:solidFill>
                  <a:srgbClr val="243A5E"/>
                </a:solidFill>
                <a:latin typeface="Segoe UI" pitchFamily="34" charset="0"/>
                <a:ea typeface="Segoe UI" pitchFamily="34" charset="-122"/>
                <a:cs typeface="Segoe UI" pitchFamily="34" charset="-120"/>
              </a:rPr>
              <a:t>Robustesse, sécurité et exploitation</a:t>
            </a:r>
            <a:endParaRPr lang="en-US" sz="1900" dirty="0"/>
          </a:p>
        </p:txBody>
      </p:sp>
      <p:sp>
        <p:nvSpPr>
          <p:cNvPr id="3" name="Text 1"/>
          <p:cNvSpPr/>
          <p:nvPr/>
        </p:nvSpPr>
        <p:spPr>
          <a:xfrm>
            <a:off x="320040" y="530352"/>
            <a:ext cx="10607040" cy="201168"/>
          </a:xfrm>
          <a:prstGeom prst="rect">
            <a:avLst/>
          </a:prstGeom>
          <a:noFill/>
          <a:ln/>
        </p:spPr>
        <p:txBody>
          <a:bodyPr wrap="square" lIns="0" tIns="0" rIns="0" bIns="0" rtlCol="0" anchor="ctr"/>
          <a:lstStyle/>
          <a:p>
            <a:pPr algn="l" indent="0" marL="0">
              <a:buNone/>
            </a:pPr>
            <a:r>
              <a:rPr lang="en-US" sz="900" dirty="0">
                <a:solidFill>
                  <a:srgbClr val="605E5C"/>
                </a:solidFill>
                <a:latin typeface="Segoe UI" pitchFamily="34" charset="0"/>
                <a:ea typeface="Segoe UI" pitchFamily="34" charset="-122"/>
                <a:cs typeface="Segoe UI" pitchFamily="34" charset="-120"/>
              </a:rPr>
              <a:t>Ce que l'architecture garantit en fonctionnement nominal et en cas d'incident.</a:t>
            </a:r>
            <a:endParaRPr lang="en-US" sz="900" dirty="0"/>
          </a:p>
        </p:txBody>
      </p:sp>
      <p:sp>
        <p:nvSpPr>
          <p:cNvPr id="4" name="Text 2"/>
          <p:cNvSpPr/>
          <p:nvPr/>
        </p:nvSpPr>
        <p:spPr>
          <a:xfrm>
            <a:off x="9555480" y="237744"/>
            <a:ext cx="1645920" cy="201168"/>
          </a:xfrm>
          <a:prstGeom prst="rect">
            <a:avLst/>
          </a:prstGeom>
          <a:noFill/>
          <a:ln/>
        </p:spPr>
        <p:txBody>
          <a:bodyPr wrap="square" lIns="0" tIns="0" rIns="0" bIns="0" rtlCol="0" anchor="ctr"/>
          <a:lstStyle/>
          <a:p>
            <a:pPr algn="r" indent="0" marL="0">
              <a:buNone/>
            </a:pPr>
            <a:r>
              <a:rPr lang="en-US" sz="750" dirty="0">
                <a:solidFill>
                  <a:srgbClr val="8A8886"/>
                </a:solidFill>
                <a:latin typeface="Segoe UI" pitchFamily="34" charset="0"/>
                <a:ea typeface="Segoe UI" pitchFamily="34" charset="-122"/>
                <a:cs typeface="Segoe UI" pitchFamily="34" charset="-120"/>
              </a:rPr>
              <a:t>Soufyane Dardaz  ·  v2.0</a:t>
            </a:r>
            <a:endParaRPr lang="en-US" sz="750" dirty="0"/>
          </a:p>
        </p:txBody>
      </p:sp>
      <p:sp>
        <p:nvSpPr>
          <p:cNvPr id="5" name="Shape 3"/>
          <p:cNvSpPr/>
          <p:nvPr/>
        </p:nvSpPr>
        <p:spPr>
          <a:xfrm>
            <a:off x="11292840" y="219456"/>
            <a:ext cx="548640" cy="548640"/>
          </a:xfrm>
          <a:prstGeom prst="roundRect">
            <a:avLst>
              <a:gd name="adj" fmla="val 5000"/>
            </a:avLst>
          </a:prstGeom>
          <a:solidFill>
            <a:srgbClr val="F3F2F1"/>
          </a:solidFill>
          <a:ln w="9525">
            <a:solidFill>
              <a:srgbClr val="B3B3B3"/>
            </a:solidFill>
            <a:prstDash val="dash"/>
          </a:ln>
        </p:spPr>
      </p:sp>
      <p:sp>
        <p:nvSpPr>
          <p:cNvPr id="6" name="Text 4"/>
          <p:cNvSpPr/>
          <p:nvPr/>
        </p:nvSpPr>
        <p:spPr>
          <a:xfrm>
            <a:off x="11292840" y="219456"/>
            <a:ext cx="548640" cy="548640"/>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a:p>
            <a:pPr algn="ctr" indent="0" marL="0">
              <a:buNone/>
            </a:pPr>
            <a:r>
              <a:rPr lang="en-US" sz="450" dirty="0">
                <a:solidFill>
                  <a:srgbClr val="8A8886"/>
                </a:solidFill>
                <a:latin typeface="Segoe UI" pitchFamily="34" charset="0"/>
                <a:ea typeface="Segoe UI" pitchFamily="34" charset="-122"/>
                <a:cs typeface="Segoe UI" pitchFamily="34" charset="-120"/>
              </a:rPr>
              <a:t>ORG</a:t>
            </a:r>
            <a:endParaRPr lang="en-US" sz="450" dirty="0"/>
          </a:p>
        </p:txBody>
      </p:sp>
      <p:sp>
        <p:nvSpPr>
          <p:cNvPr id="7" name="Shape 5"/>
          <p:cNvSpPr/>
          <p:nvPr/>
        </p:nvSpPr>
        <p:spPr>
          <a:xfrm>
            <a:off x="320040" y="1024128"/>
            <a:ext cx="3712464" cy="2395728"/>
          </a:xfrm>
          <a:prstGeom prst="roundRect">
            <a:avLst>
              <a:gd name="adj" fmla="val 11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8" name="Shape 6"/>
          <p:cNvSpPr/>
          <p:nvPr/>
        </p:nvSpPr>
        <p:spPr>
          <a:xfrm>
            <a:off x="521208" y="1243584"/>
            <a:ext cx="310896" cy="310896"/>
          </a:xfrm>
          <a:prstGeom prst="roundRect">
            <a:avLst>
              <a:gd name="adj" fmla="val 8824"/>
            </a:avLst>
          </a:prstGeom>
          <a:solidFill>
            <a:srgbClr val="F3F2F1"/>
          </a:solidFill>
          <a:ln w="9525">
            <a:solidFill>
              <a:srgbClr val="B3B3B3"/>
            </a:solidFill>
            <a:prstDash val="dash"/>
          </a:ln>
        </p:spPr>
      </p:sp>
      <p:sp>
        <p:nvSpPr>
          <p:cNvPr id="9" name="Text 7"/>
          <p:cNvSpPr/>
          <p:nvPr/>
        </p:nvSpPr>
        <p:spPr>
          <a:xfrm>
            <a:off x="521208" y="1243584"/>
            <a:ext cx="310896" cy="31089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0" name="Text 8"/>
          <p:cNvSpPr/>
          <p:nvPr/>
        </p:nvSpPr>
        <p:spPr>
          <a:xfrm>
            <a:off x="941832" y="1225296"/>
            <a:ext cx="2889504" cy="347472"/>
          </a:xfrm>
          <a:prstGeom prst="rect">
            <a:avLst/>
          </a:prstGeom>
          <a:noFill/>
          <a:ln/>
        </p:spPr>
        <p:txBody>
          <a:bodyPr wrap="square" lIns="0" tIns="0" rIns="0" bIns="0" rtlCol="0" anchor="ctr"/>
          <a:lstStyle/>
          <a:p>
            <a:pPr algn="l" indent="0" marL="0">
              <a:buNone/>
            </a:pPr>
            <a:r>
              <a:rPr lang="en-US" sz="1300" b="1" dirty="0">
                <a:solidFill>
                  <a:srgbClr val="243A5E"/>
                </a:solidFill>
                <a:latin typeface="Segoe UI" pitchFamily="34" charset="0"/>
                <a:ea typeface="Segoe UI" pitchFamily="34" charset="-122"/>
                <a:cs typeface="Segoe UI" pitchFamily="34" charset="-120"/>
              </a:rPr>
              <a:t>Identité &amp; sécurité</a:t>
            </a:r>
            <a:endParaRPr lang="en-US" sz="1300" dirty="0"/>
          </a:p>
        </p:txBody>
      </p:sp>
      <p:sp>
        <p:nvSpPr>
          <p:cNvPr id="11" name="Text 9"/>
          <p:cNvSpPr/>
          <p:nvPr/>
        </p:nvSpPr>
        <p:spPr>
          <a:xfrm>
            <a:off x="557784" y="1682496"/>
            <a:ext cx="3236976" cy="1554480"/>
          </a:xfrm>
          <a:prstGeom prst="rect">
            <a:avLst/>
          </a:prstGeom>
          <a:noFill/>
          <a:ln/>
        </p:spPr>
        <p:txBody>
          <a:bodyPr wrap="square" lIns="0" tIns="0" rIns="0" bIns="0" rtlCol="0" anchor="t"/>
          <a:lstStyle/>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Identités managées de bout en bout : Search → Storage / Foundry / Vision ; Functions → Storage / Search / Foundry / Document Intelligence ; Logic App → Graph / Storage / Search.</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Aucune clé stockée : disableLocalAuth sur Azure AI Search et Document Intelligence, allowSharedKeyAccess = false sur le compte de stockage.</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Les trois endpoints de compétences sont protégés par Microsoft Entra ID (authentification requise, sinon HTTP 401).</a:t>
            </a:r>
            <a:endParaRPr lang="en-US" sz="900" dirty="0"/>
          </a:p>
        </p:txBody>
      </p:sp>
      <p:sp>
        <p:nvSpPr>
          <p:cNvPr id="12" name="Shape 10"/>
          <p:cNvSpPr/>
          <p:nvPr/>
        </p:nvSpPr>
        <p:spPr>
          <a:xfrm>
            <a:off x="4233672" y="1024128"/>
            <a:ext cx="3712464" cy="2395728"/>
          </a:xfrm>
          <a:prstGeom prst="roundRect">
            <a:avLst>
              <a:gd name="adj" fmla="val 11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3" name="Shape 11"/>
          <p:cNvSpPr/>
          <p:nvPr/>
        </p:nvSpPr>
        <p:spPr>
          <a:xfrm>
            <a:off x="4434840" y="1243584"/>
            <a:ext cx="310896" cy="310896"/>
          </a:xfrm>
          <a:prstGeom prst="roundRect">
            <a:avLst>
              <a:gd name="adj" fmla="val 8824"/>
            </a:avLst>
          </a:prstGeom>
          <a:solidFill>
            <a:srgbClr val="F3F2F1"/>
          </a:solidFill>
          <a:ln w="9525">
            <a:solidFill>
              <a:srgbClr val="B3B3B3"/>
            </a:solidFill>
            <a:prstDash val="dash"/>
          </a:ln>
        </p:spPr>
      </p:sp>
      <p:sp>
        <p:nvSpPr>
          <p:cNvPr id="14" name="Text 12"/>
          <p:cNvSpPr/>
          <p:nvPr/>
        </p:nvSpPr>
        <p:spPr>
          <a:xfrm>
            <a:off x="4434840" y="1243584"/>
            <a:ext cx="310896" cy="31089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15" name="Text 13"/>
          <p:cNvSpPr/>
          <p:nvPr/>
        </p:nvSpPr>
        <p:spPr>
          <a:xfrm>
            <a:off x="4855464" y="1225296"/>
            <a:ext cx="2889504" cy="347472"/>
          </a:xfrm>
          <a:prstGeom prst="rect">
            <a:avLst/>
          </a:prstGeom>
          <a:noFill/>
          <a:ln/>
        </p:spPr>
        <p:txBody>
          <a:bodyPr wrap="square" lIns="0" tIns="0" rIns="0" bIns="0" rtlCol="0" anchor="ctr"/>
          <a:lstStyle/>
          <a:p>
            <a:pPr algn="l" indent="0" marL="0">
              <a:buNone/>
            </a:pPr>
            <a:r>
              <a:rPr lang="en-US" sz="1300" b="1" dirty="0">
                <a:solidFill>
                  <a:srgbClr val="243A5E"/>
                </a:solidFill>
                <a:latin typeface="Segoe UI" pitchFamily="34" charset="0"/>
                <a:ea typeface="Segoe UI" pitchFamily="34" charset="-122"/>
                <a:cs typeface="Segoe UI" pitchFamily="34" charset="-120"/>
              </a:rPr>
              <a:t>Réseau</a:t>
            </a:r>
            <a:endParaRPr lang="en-US" sz="1300" dirty="0"/>
          </a:p>
        </p:txBody>
      </p:sp>
      <p:sp>
        <p:nvSpPr>
          <p:cNvPr id="16" name="Text 14"/>
          <p:cNvSpPr/>
          <p:nvPr/>
        </p:nvSpPr>
        <p:spPr>
          <a:xfrm>
            <a:off x="4471416" y="1682496"/>
            <a:ext cx="3236976" cy="1554480"/>
          </a:xfrm>
          <a:prstGeom prst="rect">
            <a:avLst/>
          </a:prstGeom>
          <a:noFill/>
          <a:ln/>
        </p:spPr>
        <p:txBody>
          <a:bodyPr wrap="square" lIns="0" tIns="0" rIns="0" bIns="0" rtlCol="0" anchor="t"/>
          <a:lstStyle/>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Private Endpoints optionnels : Blob Storage, Azure AI Search, comptes Cognitive Services / Foundry.</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Zones Azure Private DNS associées ; publicNetworkAccess peut être positionné à Disabled.</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Accès d'exploitation par passerelle VPN point-à-site et résolveur DNS privé (option).</a:t>
            </a:r>
            <a:endParaRPr lang="en-US" sz="900" dirty="0"/>
          </a:p>
        </p:txBody>
      </p:sp>
      <p:sp>
        <p:nvSpPr>
          <p:cNvPr id="17" name="Shape 15"/>
          <p:cNvSpPr/>
          <p:nvPr/>
        </p:nvSpPr>
        <p:spPr>
          <a:xfrm>
            <a:off x="8147304" y="1024128"/>
            <a:ext cx="3712464" cy="2395728"/>
          </a:xfrm>
          <a:prstGeom prst="roundRect">
            <a:avLst>
              <a:gd name="adj" fmla="val 1145"/>
            </a:avLst>
          </a:prstGeom>
          <a:solidFill>
            <a:srgbClr val="FFFFFF"/>
          </a:solidFill>
          <a:ln w="12700">
            <a:solidFill>
              <a:srgbClr val="0078D4"/>
            </a:solidFill>
            <a:prstDash val="solid"/>
          </a:ln>
          <a:effectLst>
            <a:outerShdw sx="100000" sy="100000" kx="0" ky="0" algn="bl" rotWithShape="0" blurRad="50800" dist="12700" dir="5400000">
              <a:srgbClr val="000000">
                <a:alpha val="13000"/>
              </a:srgbClr>
            </a:outerShdw>
          </a:effectLst>
        </p:spPr>
      </p:sp>
      <p:sp>
        <p:nvSpPr>
          <p:cNvPr id="18" name="Shape 16"/>
          <p:cNvSpPr/>
          <p:nvPr/>
        </p:nvSpPr>
        <p:spPr>
          <a:xfrm>
            <a:off x="8348472" y="1243584"/>
            <a:ext cx="310896" cy="310896"/>
          </a:xfrm>
          <a:prstGeom prst="roundRect">
            <a:avLst>
              <a:gd name="adj" fmla="val 8824"/>
            </a:avLst>
          </a:prstGeom>
          <a:solidFill>
            <a:srgbClr val="F3F2F1"/>
          </a:solidFill>
          <a:ln w="9525">
            <a:solidFill>
              <a:srgbClr val="B3B3B3"/>
            </a:solidFill>
            <a:prstDash val="dash"/>
          </a:ln>
        </p:spPr>
      </p:sp>
      <p:sp>
        <p:nvSpPr>
          <p:cNvPr id="19" name="Text 17"/>
          <p:cNvSpPr/>
          <p:nvPr/>
        </p:nvSpPr>
        <p:spPr>
          <a:xfrm>
            <a:off x="8348472" y="1243584"/>
            <a:ext cx="310896" cy="310896"/>
          </a:xfrm>
          <a:prstGeom prst="rect">
            <a:avLst/>
          </a:prstGeom>
          <a:noFill/>
          <a:ln/>
        </p:spPr>
        <p:txBody>
          <a:bodyPr wrap="square" lIns="0" tIns="0" rIns="0" bIns="0" rtlCol="0" anchor="ctr"/>
          <a:lstStyle/>
          <a:p>
            <a:pPr algn="ctr" indent="0" marL="0">
              <a:buNone/>
            </a:pPr>
            <a:r>
              <a:rPr lang="en-US" sz="450" dirty="0">
                <a:solidFill>
                  <a:srgbClr val="8A8886"/>
                </a:solidFill>
                <a:latin typeface="Segoe UI" pitchFamily="34" charset="0"/>
                <a:ea typeface="Segoe UI" pitchFamily="34" charset="-122"/>
                <a:cs typeface="Segoe UI" pitchFamily="34" charset="-120"/>
              </a:rPr>
              <a:t>LOGO</a:t>
            </a:r>
            <a:endParaRPr lang="en-US" sz="450" dirty="0"/>
          </a:p>
        </p:txBody>
      </p:sp>
      <p:sp>
        <p:nvSpPr>
          <p:cNvPr id="20" name="Text 18"/>
          <p:cNvSpPr/>
          <p:nvPr/>
        </p:nvSpPr>
        <p:spPr>
          <a:xfrm>
            <a:off x="8769096" y="1225296"/>
            <a:ext cx="2889504" cy="347472"/>
          </a:xfrm>
          <a:prstGeom prst="rect">
            <a:avLst/>
          </a:prstGeom>
          <a:noFill/>
          <a:ln/>
        </p:spPr>
        <p:txBody>
          <a:bodyPr wrap="square" lIns="0" tIns="0" rIns="0" bIns="0" rtlCol="0" anchor="ctr"/>
          <a:lstStyle/>
          <a:p>
            <a:pPr algn="l" indent="0" marL="0">
              <a:buNone/>
            </a:pPr>
            <a:r>
              <a:rPr lang="en-US" sz="1300" b="1" dirty="0">
                <a:solidFill>
                  <a:srgbClr val="243A5E"/>
                </a:solidFill>
                <a:latin typeface="Segoe UI" pitchFamily="34" charset="0"/>
                <a:ea typeface="Segoe UI" pitchFamily="34" charset="-122"/>
                <a:cs typeface="Segoe UI" pitchFamily="34" charset="-120"/>
              </a:rPr>
              <a:t>Observabilité &amp; coûts</a:t>
            </a:r>
            <a:endParaRPr lang="en-US" sz="1300" dirty="0"/>
          </a:p>
        </p:txBody>
      </p:sp>
      <p:sp>
        <p:nvSpPr>
          <p:cNvPr id="21" name="Text 19"/>
          <p:cNvSpPr/>
          <p:nvPr/>
        </p:nvSpPr>
        <p:spPr>
          <a:xfrm>
            <a:off x="8385048" y="1682496"/>
            <a:ext cx="3236976" cy="1554480"/>
          </a:xfrm>
          <a:prstGeom prst="rect">
            <a:avLst/>
          </a:prstGeom>
          <a:noFill/>
          <a:ln/>
        </p:spPr>
        <p:txBody>
          <a:bodyPr wrap="square" lIns="0" tIns="0" rIns="0" bIns="0" rtlCol="0" anchor="t"/>
          <a:lstStyle/>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Application Insights + Log Analytics : Azure Functions, Logic App, diagnostics Azure AI Search.</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Historique d'exécution de l'indexeur et de la Logic App consultable dans le portail Azure.</a:t>
            </a:r>
            <a:endParaRPr lang="en-US" sz="900" dirty="0"/>
          </a:p>
          <a:p>
            <a:pPr algn="l" marL="342900" indent="-342900">
              <a:lnSpc>
                <a:spcPct val="100000"/>
              </a:lnSpc>
              <a:spcAft>
                <a:spcPts val="600"/>
              </a:spcAft>
              <a:buSzPct val="100000"/>
              <a:buChar char="•"/>
            </a:pPr>
            <a:r>
              <a:rPr lang="en-US" sz="900" dirty="0">
                <a:solidFill>
                  <a:srgbClr val="605E5C"/>
                </a:solidFill>
                <a:latin typeface="Segoe UI" pitchFamily="34" charset="0"/>
                <a:ea typeface="Segoe UI" pitchFamily="34" charset="-122"/>
                <a:cs typeface="Segoe UI" pitchFamily="34" charset="-120"/>
              </a:rPr>
              <a:t>Coût récurrent principal : Azure AI Search, facturé à l'heure même index vide — dimensionner le SKU en premier.</a:t>
            </a:r>
            <a:endParaRPr lang="en-US" sz="900" dirty="0"/>
          </a:p>
        </p:txBody>
      </p:sp>
      <p:sp>
        <p:nvSpPr>
          <p:cNvPr id="22" name="Shape 20"/>
          <p:cNvSpPr/>
          <p:nvPr/>
        </p:nvSpPr>
        <p:spPr>
          <a:xfrm>
            <a:off x="320040" y="3657600"/>
            <a:ext cx="11548872" cy="1298448"/>
          </a:xfrm>
          <a:prstGeom prst="roundRect">
            <a:avLst>
              <a:gd name="adj" fmla="val 2113"/>
            </a:avLst>
          </a:prstGeom>
          <a:solidFill>
            <a:srgbClr val="FFF9E6"/>
          </a:solidFill>
          <a:ln w="12700">
            <a:solidFill>
              <a:srgbClr val="8A6100"/>
            </a:solidFill>
            <a:prstDash val="solid"/>
          </a:ln>
        </p:spPr>
      </p:sp>
      <p:sp>
        <p:nvSpPr>
          <p:cNvPr id="23" name="Text 21"/>
          <p:cNvSpPr/>
          <p:nvPr/>
        </p:nvSpPr>
        <p:spPr>
          <a:xfrm>
            <a:off x="548640" y="3785616"/>
            <a:ext cx="11064240" cy="237744"/>
          </a:xfrm>
          <a:prstGeom prst="rect">
            <a:avLst/>
          </a:prstGeom>
          <a:noFill/>
          <a:ln/>
        </p:spPr>
        <p:txBody>
          <a:bodyPr wrap="square" lIns="0" tIns="0" rIns="0" bIns="0" rtlCol="0" anchor="ctr"/>
          <a:lstStyle/>
          <a:p>
            <a:pPr algn="l" indent="0" marL="0">
              <a:buNone/>
            </a:pPr>
            <a:r>
              <a:rPr lang="en-US" sz="1200" b="1" dirty="0">
                <a:solidFill>
                  <a:srgbClr val="4A3B00"/>
                </a:solidFill>
                <a:latin typeface="Segoe UI" pitchFamily="34" charset="0"/>
                <a:ea typeface="Segoe UI" pitchFamily="34" charset="-122"/>
                <a:cs typeface="Segoe UI" pitchFamily="34" charset="-120"/>
              </a:rPr>
              <a:t>Robustesse de la synchronisation SharePoint (Azure Logic Apps)</a:t>
            </a:r>
            <a:endParaRPr lang="en-US" sz="1200" dirty="0"/>
          </a:p>
        </p:txBody>
      </p:sp>
      <p:sp>
        <p:nvSpPr>
          <p:cNvPr id="24" name="Text 22"/>
          <p:cNvSpPr/>
          <p:nvPr/>
        </p:nvSpPr>
        <p:spPr>
          <a:xfrm>
            <a:off x="548640" y="4078224"/>
            <a:ext cx="11064240" cy="786384"/>
          </a:xfrm>
          <a:prstGeom prst="rect">
            <a:avLst/>
          </a:prstGeom>
          <a:noFill/>
          <a:ln/>
        </p:spPr>
        <p:txBody>
          <a:bodyPr wrap="square" lIns="0" tIns="0" rIns="0" bIns="0" rtlCol="0" anchor="t"/>
          <a:lstStyle/>
          <a:p>
            <a:pPr algn="l" marL="342900" indent="-342900">
              <a:spcAft>
                <a:spcPts val="400"/>
              </a:spcAft>
              <a:buSzPct val="100000"/>
              <a:buChar char="•"/>
            </a:pPr>
            <a:r>
              <a:rPr lang="en-US" sz="900" dirty="0">
                <a:solidFill>
                  <a:srgbClr val="4A3B00"/>
                </a:solidFill>
                <a:latin typeface="Segoe UI" pitchFamily="34" charset="0"/>
                <a:ea typeface="Segoe UI" pitchFamily="34" charset="-122"/>
                <a:cs typeface="Segoe UI" pitchFamily="34" charset="-120"/>
              </a:rPr>
              <a:t>deltaLink persisté dans la table Azure sharepointsyncstate → synchronisation incrémentale, reprenable et idempotente : un run interrompu reprend là où il s'est arrêté.</a:t>
            </a:r>
            <a:endParaRPr lang="en-US" sz="900" dirty="0"/>
          </a:p>
          <a:p>
            <a:pPr algn="l" marL="342900" indent="-342900">
              <a:spcAft>
                <a:spcPts val="400"/>
              </a:spcAft>
              <a:buSzPct val="100000"/>
              <a:buChar char="•"/>
            </a:pPr>
            <a:r>
              <a:rPr lang="en-US" sz="900" dirty="0">
                <a:solidFill>
                  <a:srgbClr val="4A3B00"/>
                </a:solidFill>
                <a:latin typeface="Segoe UI" pitchFamily="34" charset="0"/>
                <a:ea typeface="Segoe UI" pitchFamily="34" charset="-122"/>
                <a:cs typeface="Segoe UI" pitchFamily="34" charset="-120"/>
              </a:rPr>
              <a:t>L'échec d'un fichier isolé est capté dans un scope dédié, journalisé dans la table sharepointingestionerrors (et notifié par webhook si configuré) — le run continue sur les fichiers suivants.</a:t>
            </a:r>
            <a:endParaRPr lang="en-US" sz="900" dirty="0"/>
          </a:p>
          <a:p>
            <a:pPr algn="l" marL="342900" indent="-342900">
              <a:buSzPct val="100000"/>
              <a:buChar char="•"/>
            </a:pPr>
            <a:r>
              <a:rPr lang="en-US" sz="900" dirty="0">
                <a:solidFill>
                  <a:srgbClr val="4A3B00"/>
                </a:solidFill>
                <a:latin typeface="Segoe UI" pitchFamily="34" charset="0"/>
                <a:ea typeface="Segoe UI" pitchFamily="34" charset="-122"/>
                <a:cs typeface="Segoe UI" pitchFamily="34" charset="-120"/>
              </a:rPr>
              <a:t>Une suppression dans SharePoint entraîne la suppression du blob, puis le retrait automatique du document de l'index via la politique de détection de suppression par soft-delete.</a:t>
            </a:r>
            <a:endParaRPr lang="en-US" sz="900" dirty="0"/>
          </a:p>
        </p:txBody>
      </p:sp>
      <p:sp>
        <p:nvSpPr>
          <p:cNvPr id="25" name="Shape 23"/>
          <p:cNvSpPr/>
          <p:nvPr/>
        </p:nvSpPr>
        <p:spPr>
          <a:xfrm>
            <a:off x="320040" y="5138928"/>
            <a:ext cx="11548872" cy="1005840"/>
          </a:xfrm>
          <a:prstGeom prst="roundRect">
            <a:avLst>
              <a:gd name="adj" fmla="val 2727"/>
            </a:avLst>
          </a:prstGeom>
          <a:solidFill>
            <a:srgbClr val="F3F9FD"/>
          </a:solidFill>
          <a:ln w="12700">
            <a:solidFill>
              <a:srgbClr val="0078D4"/>
            </a:solidFill>
            <a:prstDash val="solid"/>
          </a:ln>
        </p:spPr>
      </p:sp>
      <p:sp>
        <p:nvSpPr>
          <p:cNvPr id="26" name="Text 24"/>
          <p:cNvSpPr/>
          <p:nvPr/>
        </p:nvSpPr>
        <p:spPr>
          <a:xfrm>
            <a:off x="548640" y="5248656"/>
            <a:ext cx="11064240" cy="219456"/>
          </a:xfrm>
          <a:prstGeom prst="rect">
            <a:avLst/>
          </a:prstGeom>
          <a:noFill/>
          <a:ln/>
        </p:spPr>
        <p:txBody>
          <a:bodyPr wrap="square" lIns="0" tIns="0" rIns="0" bIns="0" rtlCol="0" anchor="ctr"/>
          <a:lstStyle/>
          <a:p>
            <a:pPr algn="l" indent="0" marL="0">
              <a:buNone/>
            </a:pPr>
            <a:r>
              <a:rPr lang="en-US" sz="1200" b="1" dirty="0">
                <a:solidFill>
                  <a:srgbClr val="243A5E"/>
                </a:solidFill>
                <a:latin typeface="Segoe UI" pitchFamily="34" charset="0"/>
                <a:ea typeface="Segoe UI" pitchFamily="34" charset="-122"/>
                <a:cs typeface="Segoe UI" pitchFamily="34" charset="-120"/>
              </a:rPr>
              <a:t>Déploiement</a:t>
            </a:r>
            <a:endParaRPr lang="en-US" sz="1200" dirty="0"/>
          </a:p>
        </p:txBody>
      </p:sp>
      <p:sp>
        <p:nvSpPr>
          <p:cNvPr id="27" name="Text 25"/>
          <p:cNvSpPr/>
          <p:nvPr/>
        </p:nvSpPr>
        <p:spPr>
          <a:xfrm>
            <a:off x="548640" y="5504688"/>
            <a:ext cx="11064240" cy="548640"/>
          </a:xfrm>
          <a:prstGeom prst="rect">
            <a:avLst/>
          </a:prstGeom>
          <a:noFill/>
          <a:ln/>
        </p:spPr>
        <p:txBody>
          <a:bodyPr wrap="square" lIns="0" tIns="0" rIns="0" bIns="0" rtlCol="0" anchor="t"/>
          <a:lstStyle/>
          <a:p>
            <a:pPr algn="l" marL="342900" indent="-342900">
              <a:spcAft>
                <a:spcPts val="400"/>
              </a:spcAft>
              <a:buSzPct val="100000"/>
              <a:buChar char="•"/>
            </a:pPr>
            <a:r>
              <a:rPr lang="en-US" sz="900" dirty="0">
                <a:solidFill>
                  <a:srgbClr val="605E5C"/>
                </a:solidFill>
                <a:latin typeface="Segoe UI" pitchFamily="34" charset="0"/>
                <a:ea typeface="Segoe UI" pitchFamily="34" charset="-122"/>
                <a:cs typeface="Segoe UI" pitchFamily="34" charset="-120"/>
              </a:rPr>
              <a:t>L'ensemble de l'architecture est décrit en Bicep et déployé par une seule commande azd up : Azure AI Search, Blob Storage, Microsoft Foundry, Document Intelligence, les trois Azure Functions et la Logic App.</a:t>
            </a:r>
            <a:endParaRPr lang="en-US" sz="900" dirty="0"/>
          </a:p>
          <a:p>
            <a:pPr algn="l" marL="342900" indent="-342900">
              <a:buSzPct val="100000"/>
              <a:buChar char="•"/>
            </a:pPr>
            <a:r>
              <a:rPr lang="en-US" sz="900" dirty="0">
                <a:solidFill>
                  <a:srgbClr val="605E5C"/>
                </a:solidFill>
                <a:latin typeface="Segoe UI" pitchFamily="34" charset="0"/>
                <a:ea typeface="Segoe UI" pitchFamily="34" charset="-122"/>
                <a:cs typeface="Segoe UI" pitchFamily="34" charset="-120"/>
              </a:rPr>
              <a:t>La Logic App est provisionnée à chaque déploiement, mais livrée à l'état Disabled tant que SHAREPOINT_HOSTNAME et SHAREPOINT_SITE_PATH ne sont pas renseignés — elle n'interroge donc jamais une URL Microsoft Graph invalide. Reste un consentement Graph Sites.Selected à accorder une fois par un administrateur.</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d'ingestion documentaire pour Microsoft Copilot Studio</dc:title>
  <dc:subject>PptxGenJS Presentation</dc:subject>
  <dc:creator>Soufyane Dardaz</dc:creator>
  <cp:lastModifiedBy>Soufyane Dardaz</cp:lastModifiedBy>
  <cp:revision>1</cp:revision>
  <dcterms:created xsi:type="dcterms:W3CDTF">2026-08-06T09:05:39Z</dcterms:created>
  <dcterms:modified xsi:type="dcterms:W3CDTF">2026-08-06T09:05:39Z</dcterms:modified>
</cp:coreProperties>
</file>