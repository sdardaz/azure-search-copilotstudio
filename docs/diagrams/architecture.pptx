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56032"/>
            <a:ext cx="786384" cy="7863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448056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" y="102412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80160" y="11887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 FOR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52728" y="34747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7C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COPILOT STUDIO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1280160" y="9692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knowledge connector — no custom chat backend to build, host, or secure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89720" y="164592"/>
            <a:ext cx="27432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5875">
            <a:solidFill>
              <a:srgbClr val="27C6E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10928" y="219456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Studio's native Azure AI Search connector answers questions straight from your index — no orchestration code to run.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" y="133502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</a:t>
            </a:r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(retrieval) with </a:t>
            </a:r>
            <a:pPr indent="0" marL="0">
              <a:buNone/>
            </a:pPr>
            <a:r>
              <a:rPr lang="en-US" sz="1300" b="1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native knowledge connector, you get accurate, grounded answers over your documents — with zero chat infrastructure to host.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74320" y="1810512"/>
            <a:ext cx="11640312" cy="37033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17520" y="2029968"/>
            <a:ext cx="1417320" cy="914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0" y="2029968"/>
            <a:ext cx="1417320" cy="914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74320" y="1901952"/>
            <a:ext cx="1164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2920" y="2221992"/>
            <a:ext cx="4892040" cy="1965960"/>
          </a:xfrm>
          <a:prstGeom prst="roundRect">
            <a:avLst>
              <a:gd name="adj" fmla="val 2791"/>
            </a:avLst>
          </a:prstGeom>
          <a:solidFill>
            <a:srgbClr val="EFF6FC"/>
          </a:solidFill>
          <a:ln w="15875">
            <a:solidFill>
              <a:srgbClr val="0078D4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640080" y="2295144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INGESTION — BUILD THE INDEX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2697480"/>
            <a:ext cx="1417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778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5400000">
              <a:srgbClr val="444444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193292" y="2807208"/>
            <a:ext cx="310896" cy="310896"/>
          </a:xfrm>
          <a:prstGeom prst="roundRect">
            <a:avLst>
              <a:gd name="adj" fmla="val 8824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253" y="2863169"/>
            <a:ext cx="198973" cy="1989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" y="31546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68096" y="3410712"/>
            <a:ext cx="1161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./data folder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(optional)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2057400" y="3406140"/>
            <a:ext cx="137160" cy="9144"/>
          </a:xfrm>
          <a:prstGeom prst="line">
            <a:avLst/>
          </a:prstGeom>
          <a:noFill/>
          <a:ln w="19050">
            <a:solidFill>
              <a:srgbClr val="16305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194560" y="2697480"/>
            <a:ext cx="1417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778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5400000">
              <a:srgbClr val="444444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7772" y="2807208"/>
            <a:ext cx="310896" cy="310896"/>
          </a:xfrm>
          <a:prstGeom prst="roundRect">
            <a:avLst>
              <a:gd name="adj" fmla="val 8824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3733" y="2863169"/>
            <a:ext cx="198973" cy="19897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267712" y="31546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2322576" y="3410712"/>
            <a:ext cx="1161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container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by Logic App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3611880" y="3406140"/>
            <a:ext cx="137160" cy="9144"/>
          </a:xfrm>
          <a:prstGeom prst="line">
            <a:avLst/>
          </a:prstGeom>
          <a:noFill/>
          <a:ln w="19050">
            <a:solidFill>
              <a:srgbClr val="16305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749040" y="2697480"/>
            <a:ext cx="1417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778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5400000">
              <a:srgbClr val="444444">
                <a:alpha val="2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302252" y="2807208"/>
            <a:ext cx="310896" cy="310896"/>
          </a:xfrm>
          <a:prstGeom prst="roundRect">
            <a:avLst>
              <a:gd name="adj" fmla="val 8824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8213" y="2863169"/>
            <a:ext cx="198973" cy="19897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822192" y="315468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+ Skillset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3877056" y="3593592"/>
            <a:ext cx="11612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skillset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&amp; embeds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5669280" y="2697480"/>
            <a:ext cx="12801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078D4"/>
            </a:solidFill>
            <a:prstDash val="solid"/>
          </a:ln>
          <a:effectLst>
            <a:outerShdw sx="100000" sy="100000" kx="0" ky="0" algn="bl" rotWithShape="0" blurRad="38100" dist="12700" dir="5400000">
              <a:srgbClr val="444444">
                <a:alpha val="2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153912" y="2807208"/>
            <a:ext cx="310896" cy="310896"/>
          </a:xfrm>
          <a:prstGeom prst="roundRect">
            <a:avLst>
              <a:gd name="adj" fmla="val 8824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873" y="2863169"/>
            <a:ext cx="198973" cy="198973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742432" y="315468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— Index</a:t>
            </a:r>
            <a:endParaRPr lang="en-US" sz="950" dirty="0"/>
          </a:p>
        </p:txBody>
      </p:sp>
      <p:sp>
        <p:nvSpPr>
          <p:cNvPr id="41" name="Text 32"/>
          <p:cNvSpPr/>
          <p:nvPr/>
        </p:nvSpPr>
        <p:spPr>
          <a:xfrm>
            <a:off x="5797296" y="3593592"/>
            <a:ext cx="10241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semantic search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5376672" y="3406140"/>
            <a:ext cx="274320" cy="9144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7223760" y="2221992"/>
            <a:ext cx="4462272" cy="1965960"/>
          </a:xfrm>
          <a:prstGeom prst="roundRect">
            <a:avLst>
              <a:gd name="adj" fmla="val 2791"/>
            </a:avLst>
          </a:prstGeom>
          <a:solidFill>
            <a:srgbClr val="EAF6F0"/>
          </a:solidFill>
          <a:ln w="15875">
            <a:solidFill>
              <a:srgbClr val="0F7B55"/>
            </a:solidFill>
            <a:prstDash val="dash"/>
          </a:ln>
        </p:spPr>
      </p:sp>
      <p:sp>
        <p:nvSpPr>
          <p:cNvPr id="44" name="Text 35"/>
          <p:cNvSpPr/>
          <p:nvPr/>
        </p:nvSpPr>
        <p:spPr>
          <a:xfrm>
            <a:off x="7360920" y="2295144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CONSUMPTION</a:t>
            </a:r>
            <a:endParaRPr lang="en-US" sz="105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3508" y="2743200"/>
            <a:ext cx="329184" cy="329184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315200" y="31272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7315200" y="334670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“Leave policy?”</a:t>
            </a:r>
            <a:endParaRPr lang="en-US" sz="800" dirty="0"/>
          </a:p>
        </p:txBody>
      </p:sp>
      <p:sp>
        <p:nvSpPr>
          <p:cNvPr id="48" name="Shape 38"/>
          <p:cNvSpPr/>
          <p:nvPr/>
        </p:nvSpPr>
        <p:spPr>
          <a:xfrm>
            <a:off x="8001000" y="3268980"/>
            <a:ext cx="164592" cy="9144"/>
          </a:xfrm>
          <a:prstGeom prst="line">
            <a:avLst/>
          </a:prstGeom>
          <a:noFill/>
          <a:ln w="19050">
            <a:solidFill>
              <a:srgbClr val="16305A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8220456" y="269748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7780">
            <a:solidFill>
              <a:srgbClr val="0F7B55"/>
            </a:solidFill>
            <a:prstDash val="solid"/>
          </a:ln>
          <a:effectLst>
            <a:outerShdw sx="100000" sy="100000" kx="0" ky="0" algn="bl" rotWithShape="0" blurRad="38100" dist="12700" dir="5400000">
              <a:srgbClr val="444444">
                <a:alpha val="22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9345168" y="2807208"/>
            <a:ext cx="310896" cy="310896"/>
          </a:xfrm>
          <a:prstGeom prst="roundRect">
            <a:avLst>
              <a:gd name="adj" fmla="val 8824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1129" y="2863169"/>
            <a:ext cx="198973" cy="198973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8293608" y="315468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050" dirty="0"/>
          </a:p>
        </p:txBody>
      </p:sp>
      <p:sp>
        <p:nvSpPr>
          <p:cNvPr id="53" name="Text 42"/>
          <p:cNvSpPr/>
          <p:nvPr/>
        </p:nvSpPr>
        <p:spPr>
          <a:xfrm>
            <a:off x="8348472" y="3410712"/>
            <a:ext cx="2304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intent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index natively</a:t>
            </a:r>
            <a:endParaRPr lang="en-US" sz="850" dirty="0"/>
          </a:p>
        </p:txBody>
      </p:sp>
      <p:sp>
        <p:nvSpPr>
          <p:cNvPr id="54" name="Shape 43"/>
          <p:cNvSpPr/>
          <p:nvPr/>
        </p:nvSpPr>
        <p:spPr>
          <a:xfrm>
            <a:off x="10799064" y="3406140"/>
            <a:ext cx="109728" cy="18288"/>
          </a:xfrm>
          <a:prstGeom prst="line">
            <a:avLst/>
          </a:prstGeom>
          <a:noFill/>
          <a:ln w="19050">
            <a:solidFill>
              <a:srgbClr val="16305A"/>
            </a:solidFill>
            <a:prstDash val="solid"/>
          </a:ln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87100" y="2743200"/>
            <a:ext cx="329184" cy="329184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10908792" y="31272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57" name="Text 45"/>
          <p:cNvSpPr/>
          <p:nvPr/>
        </p:nvSpPr>
        <p:spPr>
          <a:xfrm>
            <a:off x="10908792" y="334670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citations</a:t>
            </a:r>
            <a:endParaRPr lang="en-US" sz="800" dirty="0"/>
          </a:p>
        </p:txBody>
      </p:sp>
      <p:sp>
        <p:nvSpPr>
          <p:cNvPr id="58" name="Shape 46"/>
          <p:cNvSpPr/>
          <p:nvPr/>
        </p:nvSpPr>
        <p:spPr>
          <a:xfrm flipV="1">
            <a:off x="6309360" y="2642616"/>
            <a:ext cx="9144" cy="36576"/>
          </a:xfrm>
          <a:prstGeom prst="line">
            <a:avLst/>
          </a:prstGeom>
          <a:noFill/>
          <a:ln w="19050">
            <a:solidFill>
              <a:srgbClr val="0078D4"/>
            </a:solidFill>
            <a:prstDash val="dash"/>
          </a:ln>
        </p:spPr>
      </p:sp>
      <p:sp>
        <p:nvSpPr>
          <p:cNvPr id="59" name="Shape 47"/>
          <p:cNvSpPr/>
          <p:nvPr/>
        </p:nvSpPr>
        <p:spPr>
          <a:xfrm>
            <a:off x="6309360" y="2642616"/>
            <a:ext cx="3191256" cy="9144"/>
          </a:xfrm>
          <a:prstGeom prst="line">
            <a:avLst/>
          </a:prstGeom>
          <a:noFill/>
          <a:ln w="19050">
            <a:solidFill>
              <a:srgbClr val="0078D4"/>
            </a:solidFill>
            <a:prstDash val="dash"/>
          </a:ln>
        </p:spPr>
      </p:sp>
      <p:sp>
        <p:nvSpPr>
          <p:cNvPr id="60" name="Shape 48"/>
          <p:cNvSpPr/>
          <p:nvPr/>
        </p:nvSpPr>
        <p:spPr>
          <a:xfrm>
            <a:off x="9500616" y="2642616"/>
            <a:ext cx="9144" cy="36576"/>
          </a:xfrm>
          <a:prstGeom prst="line">
            <a:avLst/>
          </a:prstGeom>
          <a:noFill/>
          <a:ln w="19050">
            <a:solidFill>
              <a:srgbClr val="0078D4"/>
            </a:solidFill>
            <a:prstDash val="dash"/>
          </a:ln>
        </p:spPr>
      </p:sp>
      <p:sp>
        <p:nvSpPr>
          <p:cNvPr id="61" name="Text 49"/>
          <p:cNvSpPr/>
          <p:nvPr/>
        </p:nvSpPr>
        <p:spPr>
          <a:xfrm>
            <a:off x="502920" y="4352544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INGESTION PIPELINE (OPTIONAL — SCHEDULED, VIA AZURE AI SEARCH INDEXER)</a:t>
            </a:r>
            <a:endParaRPr lang="en-US" sz="950" dirty="0"/>
          </a:p>
        </p:txBody>
      </p:sp>
      <p:sp>
        <p:nvSpPr>
          <p:cNvPr id="62" name="Shape 50"/>
          <p:cNvSpPr/>
          <p:nvPr/>
        </p:nvSpPr>
        <p:spPr>
          <a:xfrm>
            <a:off x="1206246" y="467258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8542" y="4754880"/>
            <a:ext cx="292608" cy="292608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548640" y="5184648"/>
            <a:ext cx="1772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</a:t>
            </a:r>
            <a:endParaRPr lang="en-US" sz="850" dirty="0"/>
          </a:p>
        </p:txBody>
      </p:sp>
      <p:sp>
        <p:nvSpPr>
          <p:cNvPr id="65" name="Shape 52"/>
          <p:cNvSpPr/>
          <p:nvPr/>
        </p:nvSpPr>
        <p:spPr>
          <a:xfrm>
            <a:off x="1718310" y="4901184"/>
            <a:ext cx="593598" cy="9144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66" name="Shape 53"/>
          <p:cNvSpPr/>
          <p:nvPr/>
        </p:nvSpPr>
        <p:spPr>
          <a:xfrm>
            <a:off x="3070098" y="467258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6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52394" y="4754880"/>
            <a:ext cx="292608" cy="292608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2412492" y="5184648"/>
            <a:ext cx="1772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850" dirty="0"/>
          </a:p>
        </p:txBody>
      </p:sp>
      <p:sp>
        <p:nvSpPr>
          <p:cNvPr id="69" name="Shape 55"/>
          <p:cNvSpPr/>
          <p:nvPr/>
        </p:nvSpPr>
        <p:spPr>
          <a:xfrm>
            <a:off x="3582162" y="4901184"/>
            <a:ext cx="593598" cy="9144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70" name="Shape 56"/>
          <p:cNvSpPr/>
          <p:nvPr/>
        </p:nvSpPr>
        <p:spPr>
          <a:xfrm>
            <a:off x="4933950" y="467258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16246" y="4754880"/>
            <a:ext cx="292608" cy="292608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4276344" y="5184648"/>
            <a:ext cx="1772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73" name="Shape 58"/>
          <p:cNvSpPr/>
          <p:nvPr/>
        </p:nvSpPr>
        <p:spPr>
          <a:xfrm>
            <a:off x="5446014" y="4901184"/>
            <a:ext cx="593598" cy="9144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74" name="Shape 59"/>
          <p:cNvSpPr/>
          <p:nvPr/>
        </p:nvSpPr>
        <p:spPr>
          <a:xfrm>
            <a:off x="6797802" y="467258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0098" y="4754880"/>
            <a:ext cx="292608" cy="292608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6140196" y="5184648"/>
            <a:ext cx="1772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850" dirty="0"/>
          </a:p>
        </p:txBody>
      </p:sp>
      <p:sp>
        <p:nvSpPr>
          <p:cNvPr id="77" name="Shape 61"/>
          <p:cNvSpPr/>
          <p:nvPr/>
        </p:nvSpPr>
        <p:spPr>
          <a:xfrm>
            <a:off x="7309866" y="4901184"/>
            <a:ext cx="593598" cy="9144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78" name="Shape 62"/>
          <p:cNvSpPr/>
          <p:nvPr/>
        </p:nvSpPr>
        <p:spPr>
          <a:xfrm>
            <a:off x="8661654" y="467258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7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43950" y="4754880"/>
            <a:ext cx="292608" cy="292608"/>
          </a:xfrm>
          <a:prstGeom prst="rect">
            <a:avLst/>
          </a:prstGeom>
        </p:spPr>
      </p:pic>
      <p:sp>
        <p:nvSpPr>
          <p:cNvPr id="80" name="Text 63"/>
          <p:cNvSpPr/>
          <p:nvPr/>
        </p:nvSpPr>
        <p:spPr>
          <a:xfrm>
            <a:off x="8004048" y="5184648"/>
            <a:ext cx="1772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OpenAI)</a:t>
            </a:r>
            <a:endParaRPr lang="en-US" sz="850" dirty="0"/>
          </a:p>
        </p:txBody>
      </p:sp>
      <p:sp>
        <p:nvSpPr>
          <p:cNvPr id="81" name="Shape 64"/>
          <p:cNvSpPr/>
          <p:nvPr/>
        </p:nvSpPr>
        <p:spPr>
          <a:xfrm>
            <a:off x="9173718" y="4901184"/>
            <a:ext cx="593598" cy="9144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82" name="Shape 65"/>
          <p:cNvSpPr/>
          <p:nvPr/>
        </p:nvSpPr>
        <p:spPr>
          <a:xfrm>
            <a:off x="10525506" y="467258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 w="12700">
            <a:solidFill>
              <a:srgbClr val="A6A6A6"/>
            </a:solidFill>
            <a:prstDash val="dash"/>
          </a:ln>
        </p:spPr>
      </p:sp>
      <p:pic>
        <p:nvPicPr>
          <p:cNvPr id="8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07802" y="4754880"/>
            <a:ext cx="292608" cy="292608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9867900" y="5184648"/>
            <a:ext cx="1772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850" dirty="0"/>
          </a:p>
        </p:txBody>
      </p:sp>
      <p:sp>
        <p:nvSpPr>
          <p:cNvPr id="85" name="Shape 67"/>
          <p:cNvSpPr/>
          <p:nvPr/>
        </p:nvSpPr>
        <p:spPr>
          <a:xfrm>
            <a:off x="274320" y="5641848"/>
            <a:ext cx="2786634" cy="329184"/>
          </a:xfrm>
          <a:prstGeom prst="roundRect">
            <a:avLst>
              <a:gd name="adj" fmla="val 50000"/>
            </a:avLst>
          </a:prstGeom>
          <a:solidFill>
            <a:srgbClr val="EFF6FC"/>
          </a:solidFill>
          <a:ln w="9525">
            <a:solidFill>
              <a:srgbClr val="0078D4"/>
            </a:solidFill>
            <a:prstDash val="solid"/>
          </a:ln>
        </p:spPr>
      </p:sp>
      <p:pic>
        <p:nvPicPr>
          <p:cNvPr id="8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5760" y="5715000"/>
            <a:ext cx="182880" cy="182880"/>
          </a:xfrm>
          <a:prstGeom prst="rect">
            <a:avLst/>
          </a:prstGeom>
        </p:spPr>
      </p:pic>
      <p:sp>
        <p:nvSpPr>
          <p:cNvPr id="87" name="Text 68"/>
          <p:cNvSpPr/>
          <p:nvPr/>
        </p:nvSpPr>
        <p:spPr>
          <a:xfrm>
            <a:off x="585216" y="5641848"/>
            <a:ext cx="24208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— no stored keys</a:t>
            </a:r>
            <a:endParaRPr lang="en-US" sz="850" dirty="0"/>
          </a:p>
        </p:txBody>
      </p:sp>
      <p:sp>
        <p:nvSpPr>
          <p:cNvPr id="88" name="Shape 69"/>
          <p:cNvSpPr/>
          <p:nvPr/>
        </p:nvSpPr>
        <p:spPr>
          <a:xfrm>
            <a:off x="3225546" y="5641848"/>
            <a:ext cx="2786634" cy="329184"/>
          </a:xfrm>
          <a:prstGeom prst="roundRect">
            <a:avLst>
              <a:gd name="adj" fmla="val 50000"/>
            </a:avLst>
          </a:prstGeom>
          <a:solidFill>
            <a:srgbClr val="EFF6FC"/>
          </a:solidFill>
          <a:ln w="9525">
            <a:solidFill>
              <a:srgbClr val="0078D4"/>
            </a:solidFill>
            <a:prstDash val="solid"/>
          </a:ln>
        </p:spPr>
      </p:sp>
      <p:pic>
        <p:nvPicPr>
          <p:cNvPr id="8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16986" y="5715000"/>
            <a:ext cx="182880" cy="182880"/>
          </a:xfrm>
          <a:prstGeom prst="rect">
            <a:avLst/>
          </a:prstGeom>
        </p:spPr>
      </p:pic>
      <p:sp>
        <p:nvSpPr>
          <p:cNvPr id="90" name="Text 70"/>
          <p:cNvSpPr/>
          <p:nvPr/>
        </p:nvSpPr>
        <p:spPr>
          <a:xfrm>
            <a:off x="3536442" y="5641848"/>
            <a:ext cx="24208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SharePoint sync (Logic App)</a:t>
            </a:r>
            <a:endParaRPr lang="en-US" sz="850" dirty="0"/>
          </a:p>
        </p:txBody>
      </p:sp>
      <p:sp>
        <p:nvSpPr>
          <p:cNvPr id="91" name="Shape 71"/>
          <p:cNvSpPr/>
          <p:nvPr/>
        </p:nvSpPr>
        <p:spPr>
          <a:xfrm>
            <a:off x="6176772" y="5641848"/>
            <a:ext cx="2786634" cy="329184"/>
          </a:xfrm>
          <a:prstGeom prst="roundRect">
            <a:avLst>
              <a:gd name="adj" fmla="val 50000"/>
            </a:avLst>
          </a:prstGeom>
          <a:solidFill>
            <a:srgbClr val="EFF6FC"/>
          </a:solidFill>
          <a:ln w="9525">
            <a:solidFill>
              <a:srgbClr val="0078D4"/>
            </a:solidFill>
            <a:prstDash val="solid"/>
          </a:ln>
        </p:spPr>
      </p:sp>
      <p:pic>
        <p:nvPicPr>
          <p:cNvPr id="9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68212" y="5715000"/>
            <a:ext cx="182880" cy="182880"/>
          </a:xfrm>
          <a:prstGeom prst="rect">
            <a:avLst/>
          </a:prstGeom>
        </p:spPr>
      </p:pic>
      <p:sp>
        <p:nvSpPr>
          <p:cNvPr id="93" name="Text 72"/>
          <p:cNvSpPr/>
          <p:nvPr/>
        </p:nvSpPr>
        <p:spPr>
          <a:xfrm>
            <a:off x="6487668" y="5641848"/>
            <a:ext cx="24208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multimodal (figures &amp; images)</a:t>
            </a:r>
            <a:endParaRPr lang="en-US" sz="850" dirty="0"/>
          </a:p>
        </p:txBody>
      </p:sp>
      <p:sp>
        <p:nvSpPr>
          <p:cNvPr id="94" name="Shape 73"/>
          <p:cNvSpPr/>
          <p:nvPr/>
        </p:nvSpPr>
        <p:spPr>
          <a:xfrm>
            <a:off x="9127998" y="5641848"/>
            <a:ext cx="2786634" cy="329184"/>
          </a:xfrm>
          <a:prstGeom prst="roundRect">
            <a:avLst>
              <a:gd name="adj" fmla="val 50000"/>
            </a:avLst>
          </a:prstGeom>
          <a:solidFill>
            <a:srgbClr val="EFF6FC"/>
          </a:solidFill>
          <a:ln w="9525">
            <a:solidFill>
              <a:srgbClr val="0078D4"/>
            </a:solidFill>
            <a:prstDash val="solid"/>
          </a:ln>
        </p:spPr>
      </p:sp>
      <p:pic>
        <p:nvPicPr>
          <p:cNvPr id="9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19438" y="5715000"/>
            <a:ext cx="182880" cy="182880"/>
          </a:xfrm>
          <a:prstGeom prst="rect">
            <a:avLst/>
          </a:prstGeom>
        </p:spPr>
      </p:pic>
      <p:sp>
        <p:nvSpPr>
          <p:cNvPr id="96" name="Text 74"/>
          <p:cNvSpPr/>
          <p:nvPr/>
        </p:nvSpPr>
        <p:spPr>
          <a:xfrm>
            <a:off x="9438894" y="5641848"/>
            <a:ext cx="24208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document-level ACL</a:t>
            </a:r>
            <a:endParaRPr lang="en-US" sz="850" dirty="0"/>
          </a:p>
        </p:txBody>
      </p:sp>
      <p:sp>
        <p:nvSpPr>
          <p:cNvPr id="97" name="Shape 75"/>
          <p:cNvSpPr/>
          <p:nvPr/>
        </p:nvSpPr>
        <p:spPr>
          <a:xfrm>
            <a:off x="274320" y="6099048"/>
            <a:ext cx="11640312" cy="4572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0624" y="6199632"/>
            <a:ext cx="256032" cy="256032"/>
          </a:xfrm>
          <a:prstGeom prst="rect">
            <a:avLst/>
          </a:prstGeom>
        </p:spPr>
      </p:pic>
      <p:sp>
        <p:nvSpPr>
          <p:cNvPr id="99" name="Text 76"/>
          <p:cNvSpPr/>
          <p:nvPr/>
        </p:nvSpPr>
        <p:spPr>
          <a:xfrm>
            <a:off x="777240" y="6099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 + Copilot Studio = grounded answers, zero custom chat backend to run or secure.</a:t>
            </a:r>
            <a:endParaRPr lang="en-US" sz="1050" dirty="0"/>
          </a:p>
        </p:txBody>
      </p:sp>
      <p:pic>
        <p:nvPicPr>
          <p:cNvPr id="10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94192" y="6190488"/>
            <a:ext cx="274320" cy="274320"/>
          </a:xfrm>
          <a:prstGeom prst="rect">
            <a:avLst/>
          </a:prstGeom>
        </p:spPr>
      </p:pic>
      <p:sp>
        <p:nvSpPr>
          <p:cNvPr id="101" name="Text 77"/>
          <p:cNvSpPr/>
          <p:nvPr/>
        </p:nvSpPr>
        <p:spPr>
          <a:xfrm>
            <a:off x="8759952" y="6099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placeholder for the official Azure/tool logo — replace before sharing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2026-07-29T15:45:00Z</dcterms:created>
  <dcterms:modified xsi:type="dcterms:W3CDTF">2026-07-29T15:45:00Z</dcterms:modified>
</cp:coreProperties>
</file>