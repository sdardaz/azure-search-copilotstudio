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11457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3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Ingestion Architecture for Microsoft Copilot Studio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 conventions aligned with the Microsoft Azure Architecture Center — replace icon placeholders with the official service logos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1143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INGESTION (DEFAULT)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0078D4"/>
            </a:solidFill>
            <a:prstDash val="solid"/>
          </a:ln>
          <a:effectLst>
            <a:outerShdw sx="100000" sy="100000" kx="0" ky="0" algn="bl" rotWithShape="0" blurRad="50800" dist="12700" dir="5400000">
              <a:srgbClr val="444444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84632" y="1527048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3F2F1"/>
          </a:solidFill>
          <a:ln w="12700">
            <a:solidFill>
              <a:srgbClr val="A6A6A6"/>
            </a:solidFill>
            <a:prstDash val="dash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7301" y="1579717"/>
            <a:ext cx="187269" cy="18726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" y="1499616"/>
            <a:ext cx="1353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93776" y="1892808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in the ./data folder (PDF, Office, images, HTML, JSON, CSV, text)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45059" y="1296619"/>
            <a:ext cx="241402" cy="241402"/>
          </a:xfrm>
          <a:prstGeom prst="ellipse">
            <a:avLst/>
          </a:prstGeom>
          <a:solidFill>
            <a:srgbClr val="0078D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059" y="1292596"/>
            <a:ext cx="241402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331720" y="1897380"/>
            <a:ext cx="365760" cy="9144"/>
          </a:xfrm>
          <a:prstGeom prst="line">
            <a:avLst/>
          </a:prstGeom>
          <a:noFill/>
          <a:ln w="19050">
            <a:solidFill>
              <a:srgbClr val="1B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97480" y="1417320"/>
            <a:ext cx="19659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0078D4"/>
            </a:solidFill>
            <a:prstDash val="solid"/>
          </a:ln>
          <a:effectLst>
            <a:outerShdw sx="100000" sy="100000" kx="0" ky="0" algn="bl" rotWithShape="0" blurRad="50800" dist="12700" dir="5400000">
              <a:srgbClr val="444444">
                <a:alpha val="2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816352" y="1527048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3F2F1"/>
          </a:solidFill>
          <a:ln w="12700">
            <a:solidFill>
              <a:srgbClr val="A6A6A6"/>
            </a:solidFill>
            <a:prstDash val="dash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9021" y="1579717"/>
            <a:ext cx="187269" cy="187269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218688" y="1499616"/>
            <a:ext cx="1353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prepdocs.py (CLI)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2825496" y="1892808"/>
            <a:ext cx="170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ingestion script: parses, chunks, embeds, writes to the index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2576779" y="1296619"/>
            <a:ext cx="241402" cy="241402"/>
          </a:xfrm>
          <a:prstGeom prst="ellipse">
            <a:avLst/>
          </a:prstGeom>
          <a:solidFill>
            <a:srgbClr val="0078D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576779" y="1292596"/>
            <a:ext cx="241402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365760" y="2514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INGESTION (OPTIONAL — USE_CLOUD_INGESTION)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365760" y="2788920"/>
            <a:ext cx="16916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0078D4"/>
            </a:solidFill>
            <a:prstDash val="solid"/>
          </a:ln>
          <a:effectLst>
            <a:outerShdw sx="100000" sy="100000" kx="0" ky="0" algn="bl" rotWithShape="0" blurRad="50800" dist="12700" dir="5400000">
              <a:srgbClr val="444444">
                <a:alpha val="25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84632" y="2898648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3F2F1"/>
          </a:solidFill>
          <a:ln w="12700">
            <a:solidFill>
              <a:srgbClr val="A6A6A6"/>
            </a:solidFill>
            <a:prstDash val="dash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01" y="2951317"/>
            <a:ext cx="187269" cy="187269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86968" y="287121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SharePoint Online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493776" y="3264408"/>
            <a:ext cx="1435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document library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245059" y="2668219"/>
            <a:ext cx="241402" cy="241402"/>
          </a:xfrm>
          <a:prstGeom prst="ellipse">
            <a:avLst/>
          </a:prstGeom>
          <a:solidFill>
            <a:srgbClr val="0078D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245059" y="2664196"/>
            <a:ext cx="241402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2057400" y="3268980"/>
            <a:ext cx="320040" cy="9144"/>
          </a:xfrm>
          <a:prstGeom prst="line">
            <a:avLst/>
          </a:prstGeom>
          <a:noFill/>
          <a:ln w="19050">
            <a:solidFill>
              <a:srgbClr val="1B3A5C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2377440" y="2788920"/>
            <a:ext cx="16916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0078D4"/>
            </a:solidFill>
            <a:prstDash val="solid"/>
          </a:ln>
          <a:effectLst>
            <a:outerShdw sx="100000" sy="100000" kx="0" ky="0" algn="bl" rotWithShape="0" blurRad="50800" dist="12700" dir="5400000">
              <a:srgbClr val="444444">
                <a:alpha val="25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2496312" y="2898648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3F2F1"/>
          </a:solidFill>
          <a:ln w="12700">
            <a:solidFill>
              <a:srgbClr val="A6A6A6"/>
            </a:solidFill>
            <a:prstDash val="dash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8981" y="2951317"/>
            <a:ext cx="187269" cy="187269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2898648" y="2871216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App</a:t>
            </a:r>
            <a:endParaRPr lang="en-US" sz="1150" dirty="0"/>
          </a:p>
        </p:txBody>
      </p:sp>
      <p:sp>
        <p:nvSpPr>
          <p:cNvPr id="33" name="Text 27"/>
          <p:cNvSpPr/>
          <p:nvPr/>
        </p:nvSpPr>
        <p:spPr>
          <a:xfrm>
            <a:off x="2505456" y="3264408"/>
            <a:ext cx="1435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Syncs SharePoint files into Blob Storage on a schedule</a:t>
            </a:r>
            <a:endParaRPr lang="en-US" sz="900" dirty="0"/>
          </a:p>
        </p:txBody>
      </p:sp>
      <p:sp>
        <p:nvSpPr>
          <p:cNvPr id="34" name="Shape 28"/>
          <p:cNvSpPr/>
          <p:nvPr/>
        </p:nvSpPr>
        <p:spPr>
          <a:xfrm>
            <a:off x="2256739" y="2668219"/>
            <a:ext cx="241402" cy="241402"/>
          </a:xfrm>
          <a:prstGeom prst="ellipse">
            <a:avLst/>
          </a:prstGeom>
          <a:solidFill>
            <a:srgbClr val="0078D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2256739" y="2664196"/>
            <a:ext cx="241402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6" name="Shape 30"/>
          <p:cNvSpPr/>
          <p:nvPr/>
        </p:nvSpPr>
        <p:spPr>
          <a:xfrm>
            <a:off x="4069080" y="3268980"/>
            <a:ext cx="320040" cy="9144"/>
          </a:xfrm>
          <a:prstGeom prst="line">
            <a:avLst/>
          </a:prstGeom>
          <a:noFill/>
          <a:ln w="19050">
            <a:solidFill>
              <a:srgbClr val="1B3A5C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4389120" y="278892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0078D4"/>
            </a:solidFill>
            <a:prstDash val="solid"/>
          </a:ln>
          <a:effectLst>
            <a:outerShdw sx="100000" sy="100000" kx="0" ky="0" algn="bl" rotWithShape="0" blurRad="50800" dist="12700" dir="5400000">
              <a:srgbClr val="444444">
                <a:alpha val="25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4507992" y="2898648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3F2F1"/>
          </a:solidFill>
          <a:ln w="12700">
            <a:solidFill>
              <a:srgbClr val="A6A6A6"/>
            </a:solidFill>
            <a:prstDash val="dash"/>
          </a:ln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0661" y="2951317"/>
            <a:ext cx="187269" cy="187269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4910328" y="2871216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Blob Storage</a:t>
            </a:r>
            <a:endParaRPr lang="en-US" sz="1150" dirty="0"/>
          </a:p>
        </p:txBody>
      </p:sp>
      <p:sp>
        <p:nvSpPr>
          <p:cNvPr id="41" name="Text 34"/>
          <p:cNvSpPr/>
          <p:nvPr/>
        </p:nvSpPr>
        <p:spPr>
          <a:xfrm>
            <a:off x="4517136" y="3264408"/>
            <a:ext cx="1344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container for source documents</a:t>
            </a:r>
            <a:endParaRPr lang="en-US" sz="900" dirty="0"/>
          </a:p>
        </p:txBody>
      </p:sp>
      <p:sp>
        <p:nvSpPr>
          <p:cNvPr id="42" name="Shape 35"/>
          <p:cNvSpPr/>
          <p:nvPr/>
        </p:nvSpPr>
        <p:spPr>
          <a:xfrm>
            <a:off x="4268419" y="2668219"/>
            <a:ext cx="241402" cy="241402"/>
          </a:xfrm>
          <a:prstGeom prst="ellipse">
            <a:avLst/>
          </a:prstGeom>
          <a:solidFill>
            <a:srgbClr val="0078D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4268419" y="2664196"/>
            <a:ext cx="241402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4" name="Shape 37"/>
          <p:cNvSpPr/>
          <p:nvPr/>
        </p:nvSpPr>
        <p:spPr>
          <a:xfrm>
            <a:off x="5989320" y="3268980"/>
            <a:ext cx="320040" cy="9144"/>
          </a:xfrm>
          <a:prstGeom prst="line">
            <a:avLst/>
          </a:prstGeom>
          <a:noFill/>
          <a:ln w="19050">
            <a:solidFill>
              <a:srgbClr val="1B3A5C"/>
            </a:solidFill>
            <a:prstDash val="solid"/>
          </a:ln>
        </p:spPr>
      </p:sp>
      <p:sp>
        <p:nvSpPr>
          <p:cNvPr id="45" name="Shape 38"/>
          <p:cNvSpPr/>
          <p:nvPr/>
        </p:nvSpPr>
        <p:spPr>
          <a:xfrm>
            <a:off x="6309360" y="278892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0078D4"/>
            </a:solidFill>
            <a:prstDash val="solid"/>
          </a:ln>
          <a:effectLst>
            <a:outerShdw sx="100000" sy="100000" kx="0" ky="0" algn="bl" rotWithShape="0" blurRad="50800" dist="12700" dir="5400000">
              <a:srgbClr val="444444">
                <a:alpha val="25000"/>
              </a:srgbClr>
            </a:outerShdw>
          </a:effectLst>
        </p:spPr>
      </p:sp>
      <p:sp>
        <p:nvSpPr>
          <p:cNvPr id="46" name="Shape 39"/>
          <p:cNvSpPr/>
          <p:nvPr/>
        </p:nvSpPr>
        <p:spPr>
          <a:xfrm>
            <a:off x="6428232" y="2898648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3F2F1"/>
          </a:solidFill>
          <a:ln w="12700">
            <a:solidFill>
              <a:srgbClr val="A6A6A6"/>
            </a:solidFill>
            <a:prstDash val="dash"/>
          </a:ln>
        </p:spPr>
      </p:sp>
      <p:pic>
        <p:nvPicPr>
          <p:cNvPr id="4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0901" y="2951317"/>
            <a:ext cx="187269" cy="187269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6830568" y="2871216"/>
            <a:ext cx="1216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indexer + skillset</a:t>
            </a:r>
            <a:endParaRPr lang="en-US" sz="1100" dirty="0"/>
          </a:p>
        </p:txBody>
      </p:sp>
      <p:sp>
        <p:nvSpPr>
          <p:cNvPr id="49" name="Text 41"/>
          <p:cNvSpPr/>
          <p:nvPr/>
        </p:nvSpPr>
        <p:spPr>
          <a:xfrm>
            <a:off x="6437376" y="34015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Orchestrates extraction, chunking, embeddings</a:t>
            </a:r>
            <a:endParaRPr lang="en-US" sz="900" dirty="0"/>
          </a:p>
        </p:txBody>
      </p:sp>
      <p:sp>
        <p:nvSpPr>
          <p:cNvPr id="50" name="Shape 42"/>
          <p:cNvSpPr/>
          <p:nvPr/>
        </p:nvSpPr>
        <p:spPr>
          <a:xfrm>
            <a:off x="6188659" y="2668219"/>
            <a:ext cx="241402" cy="241402"/>
          </a:xfrm>
          <a:prstGeom prst="ellipse">
            <a:avLst/>
          </a:prstGeom>
          <a:solidFill>
            <a:srgbClr val="0078D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1" name="Text 43"/>
          <p:cNvSpPr/>
          <p:nvPr/>
        </p:nvSpPr>
        <p:spPr>
          <a:xfrm>
            <a:off x="6188659" y="2664196"/>
            <a:ext cx="241402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2" name="Text 44"/>
          <p:cNvSpPr/>
          <p:nvPr/>
        </p:nvSpPr>
        <p:spPr>
          <a:xfrm>
            <a:off x="365760" y="39044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SKILLS &amp; AI SERVICES (USED BY THE INDEXER/SKILLSET)</a:t>
            </a:r>
            <a:endParaRPr lang="en-US" sz="1050" dirty="0"/>
          </a:p>
        </p:txBody>
      </p:sp>
      <p:sp>
        <p:nvSpPr>
          <p:cNvPr id="53" name="Shape 45"/>
          <p:cNvSpPr/>
          <p:nvPr/>
        </p:nvSpPr>
        <p:spPr>
          <a:xfrm>
            <a:off x="365760" y="41605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A6A6A6"/>
            </a:solidFill>
            <a:prstDash val="solid"/>
          </a:ln>
          <a:effectLst>
            <a:outerShdw sx="100000" sy="100000" kx="0" ky="0" algn="bl" rotWithShape="0" blurRad="50800" dist="12700" dir="5400000">
              <a:srgbClr val="444444">
                <a:alpha val="25000"/>
              </a:srgbClr>
            </a:outerShdw>
          </a:effectLst>
        </p:spPr>
      </p:sp>
      <p:sp>
        <p:nvSpPr>
          <p:cNvPr id="54" name="Shape 46"/>
          <p:cNvSpPr/>
          <p:nvPr/>
        </p:nvSpPr>
        <p:spPr>
          <a:xfrm>
            <a:off x="484632" y="4270248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3F2F1"/>
          </a:solidFill>
          <a:ln w="12700">
            <a:solidFill>
              <a:srgbClr val="A6A6A6"/>
            </a:solidFill>
            <a:prstDash val="dash"/>
          </a:ln>
        </p:spPr>
      </p:sp>
      <p:pic>
        <p:nvPicPr>
          <p:cNvPr id="5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7301" y="4322917"/>
            <a:ext cx="187269" cy="187269"/>
          </a:xfrm>
          <a:prstGeom prst="rect">
            <a:avLst/>
          </a:prstGeom>
        </p:spPr>
      </p:pic>
      <p:sp>
        <p:nvSpPr>
          <p:cNvPr id="56" name="Text 47"/>
          <p:cNvSpPr/>
          <p:nvPr/>
        </p:nvSpPr>
        <p:spPr>
          <a:xfrm>
            <a:off x="886968" y="4242816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Functions</a:t>
            </a:r>
            <a:endParaRPr lang="en-US" sz="1150" dirty="0"/>
          </a:p>
        </p:txBody>
      </p:sp>
      <p:sp>
        <p:nvSpPr>
          <p:cNvPr id="57" name="Text 48"/>
          <p:cNvSpPr/>
          <p:nvPr/>
        </p:nvSpPr>
        <p:spPr>
          <a:xfrm>
            <a:off x="493776" y="4636008"/>
            <a:ext cx="1673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document_extractor · figure_processor · text_processor</a:t>
            </a:r>
            <a:endParaRPr lang="en-US" sz="900" dirty="0"/>
          </a:p>
        </p:txBody>
      </p:sp>
      <p:sp>
        <p:nvSpPr>
          <p:cNvPr id="58" name="Shape 49"/>
          <p:cNvSpPr/>
          <p:nvPr/>
        </p:nvSpPr>
        <p:spPr>
          <a:xfrm>
            <a:off x="2432304" y="41605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A6A6A6"/>
            </a:solidFill>
            <a:prstDash val="solid"/>
          </a:ln>
          <a:effectLst>
            <a:outerShdw sx="100000" sy="100000" kx="0" ky="0" algn="bl" rotWithShape="0" blurRad="50800" dist="12700" dir="5400000">
              <a:srgbClr val="444444">
                <a:alpha val="25000"/>
              </a:srgbClr>
            </a:outerShdw>
          </a:effectLst>
        </p:spPr>
      </p:sp>
      <p:sp>
        <p:nvSpPr>
          <p:cNvPr id="59" name="Shape 50"/>
          <p:cNvSpPr/>
          <p:nvPr/>
        </p:nvSpPr>
        <p:spPr>
          <a:xfrm>
            <a:off x="2551176" y="4270248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3F2F1"/>
          </a:solidFill>
          <a:ln w="12700">
            <a:solidFill>
              <a:srgbClr val="A6A6A6"/>
            </a:solidFill>
            <a:prstDash val="dash"/>
          </a:ln>
        </p:spPr>
      </p:sp>
      <p:pic>
        <p:nvPicPr>
          <p:cNvPr id="6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03845" y="4322917"/>
            <a:ext cx="187269" cy="187269"/>
          </a:xfrm>
          <a:prstGeom prst="rect">
            <a:avLst/>
          </a:prstGeom>
        </p:spPr>
      </p:pic>
      <p:sp>
        <p:nvSpPr>
          <p:cNvPr id="61" name="Text 51"/>
          <p:cNvSpPr/>
          <p:nvPr/>
        </p:nvSpPr>
        <p:spPr>
          <a:xfrm>
            <a:off x="2953512" y="4242816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Intelligence</a:t>
            </a:r>
            <a:endParaRPr lang="en-US" sz="1150" dirty="0"/>
          </a:p>
        </p:txBody>
      </p:sp>
      <p:sp>
        <p:nvSpPr>
          <p:cNvPr id="62" name="Text 52"/>
          <p:cNvSpPr/>
          <p:nvPr/>
        </p:nvSpPr>
        <p:spPr>
          <a:xfrm>
            <a:off x="2560320" y="4636008"/>
            <a:ext cx="1673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extraction: text, tables, figures</a:t>
            </a:r>
            <a:endParaRPr lang="en-US" sz="900" dirty="0"/>
          </a:p>
        </p:txBody>
      </p:sp>
      <p:sp>
        <p:nvSpPr>
          <p:cNvPr id="63" name="Shape 53"/>
          <p:cNvSpPr/>
          <p:nvPr/>
        </p:nvSpPr>
        <p:spPr>
          <a:xfrm>
            <a:off x="4498848" y="41605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A6A6A6"/>
            </a:solidFill>
            <a:prstDash val="solid"/>
          </a:ln>
          <a:effectLst>
            <a:outerShdw sx="100000" sy="100000" kx="0" ky="0" algn="bl" rotWithShape="0" blurRad="50800" dist="12700" dir="5400000">
              <a:srgbClr val="444444">
                <a:alpha val="25000"/>
              </a:srgbClr>
            </a:outerShdw>
          </a:effectLst>
        </p:spPr>
      </p:sp>
      <p:sp>
        <p:nvSpPr>
          <p:cNvPr id="64" name="Shape 54"/>
          <p:cNvSpPr/>
          <p:nvPr/>
        </p:nvSpPr>
        <p:spPr>
          <a:xfrm>
            <a:off x="4617720" y="4270248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3F2F1"/>
          </a:solidFill>
          <a:ln w="12700">
            <a:solidFill>
              <a:srgbClr val="A6A6A6"/>
            </a:solidFill>
            <a:prstDash val="dash"/>
          </a:ln>
        </p:spPr>
      </p:sp>
      <p:pic>
        <p:nvPicPr>
          <p:cNvPr id="6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70389" y="4322917"/>
            <a:ext cx="187269" cy="187269"/>
          </a:xfrm>
          <a:prstGeom prst="rect">
            <a:avLst/>
          </a:prstGeom>
        </p:spPr>
      </p:pic>
      <p:sp>
        <p:nvSpPr>
          <p:cNvPr id="66" name="Text 55"/>
          <p:cNvSpPr/>
          <p:nvPr/>
        </p:nvSpPr>
        <p:spPr>
          <a:xfrm>
            <a:off x="5020056" y="4242816"/>
            <a:ext cx="1316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/ Foundry</a:t>
            </a:r>
            <a:endParaRPr lang="en-US" sz="1150" dirty="0"/>
          </a:p>
        </p:txBody>
      </p:sp>
      <p:sp>
        <p:nvSpPr>
          <p:cNvPr id="67" name="Text 56"/>
          <p:cNvSpPr/>
          <p:nvPr/>
        </p:nvSpPr>
        <p:spPr>
          <a:xfrm>
            <a:off x="4626864" y="4636008"/>
            <a:ext cx="1673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+ vision model for figure descriptions</a:t>
            </a:r>
            <a:endParaRPr lang="en-US" sz="900" dirty="0"/>
          </a:p>
        </p:txBody>
      </p:sp>
      <p:sp>
        <p:nvSpPr>
          <p:cNvPr id="68" name="Shape 57"/>
          <p:cNvSpPr/>
          <p:nvPr/>
        </p:nvSpPr>
        <p:spPr>
          <a:xfrm>
            <a:off x="6565392" y="4160520"/>
            <a:ext cx="192938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A6A6A6"/>
            </a:solidFill>
            <a:prstDash val="solid"/>
          </a:ln>
          <a:effectLst>
            <a:outerShdw sx="100000" sy="100000" kx="0" ky="0" algn="bl" rotWithShape="0" blurRad="50800" dist="12700" dir="5400000">
              <a:srgbClr val="444444">
                <a:alpha val="25000"/>
              </a:srgbClr>
            </a:outerShdw>
          </a:effectLst>
        </p:spPr>
      </p:sp>
      <p:sp>
        <p:nvSpPr>
          <p:cNvPr id="69" name="Shape 58"/>
          <p:cNvSpPr/>
          <p:nvPr/>
        </p:nvSpPr>
        <p:spPr>
          <a:xfrm>
            <a:off x="6684264" y="4270248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3F2F1"/>
          </a:solidFill>
          <a:ln w="12700">
            <a:solidFill>
              <a:srgbClr val="A6A6A6"/>
            </a:solidFill>
            <a:prstDash val="dash"/>
          </a:ln>
        </p:spPr>
      </p:sp>
      <p:pic>
        <p:nvPicPr>
          <p:cNvPr id="7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36933" y="4322917"/>
            <a:ext cx="187269" cy="187269"/>
          </a:xfrm>
          <a:prstGeom prst="rect">
            <a:avLst/>
          </a:prstGeom>
        </p:spPr>
      </p:pic>
      <p:sp>
        <p:nvSpPr>
          <p:cNvPr id="71" name="Text 59"/>
          <p:cNvSpPr/>
          <p:nvPr/>
        </p:nvSpPr>
        <p:spPr>
          <a:xfrm>
            <a:off x="7086600" y="4242816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Vision / Content Understanding</a:t>
            </a:r>
            <a:endParaRPr lang="en-US" sz="1050" dirty="0"/>
          </a:p>
        </p:txBody>
      </p:sp>
      <p:sp>
        <p:nvSpPr>
          <p:cNvPr id="72" name="Text 60"/>
          <p:cNvSpPr/>
          <p:nvPr/>
        </p:nvSpPr>
        <p:spPr>
          <a:xfrm>
            <a:off x="6693408" y="4773168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image embeddings &amp; media descriptions</a:t>
            </a:r>
            <a:endParaRPr lang="en-US" sz="900" dirty="0"/>
          </a:p>
        </p:txBody>
      </p:sp>
      <p:sp>
        <p:nvSpPr>
          <p:cNvPr id="73" name="Shape 61"/>
          <p:cNvSpPr/>
          <p:nvPr/>
        </p:nvSpPr>
        <p:spPr>
          <a:xfrm>
            <a:off x="8732520" y="1783080"/>
            <a:ext cx="146304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0078D4"/>
            </a:solidFill>
            <a:prstDash val="solid"/>
          </a:ln>
          <a:effectLst>
            <a:outerShdw sx="100000" sy="100000" kx="0" ky="0" algn="bl" rotWithShape="0" blurRad="50800" dist="12700" dir="5400000">
              <a:srgbClr val="444444">
                <a:alpha val="25000"/>
              </a:srgbClr>
            </a:outerShdw>
          </a:effectLst>
        </p:spPr>
      </p:sp>
      <p:sp>
        <p:nvSpPr>
          <p:cNvPr id="74" name="Shape 62"/>
          <p:cNvSpPr/>
          <p:nvPr/>
        </p:nvSpPr>
        <p:spPr>
          <a:xfrm>
            <a:off x="8851392" y="1892808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3F2F1"/>
          </a:solidFill>
          <a:ln w="12700">
            <a:solidFill>
              <a:srgbClr val="A6A6A6"/>
            </a:solidFill>
            <a:prstDash val="dash"/>
          </a:ln>
        </p:spPr>
      </p:sp>
      <p:pic>
        <p:nvPicPr>
          <p:cNvPr id="75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04061" y="1945477"/>
            <a:ext cx="187269" cy="187269"/>
          </a:xfrm>
          <a:prstGeom prst="rect">
            <a:avLst/>
          </a:prstGeom>
        </p:spPr>
      </p:pic>
      <p:sp>
        <p:nvSpPr>
          <p:cNvPr id="76" name="Text 63"/>
          <p:cNvSpPr/>
          <p:nvPr/>
        </p:nvSpPr>
        <p:spPr>
          <a:xfrm>
            <a:off x="9253728" y="1865376"/>
            <a:ext cx="850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Search — Index</a:t>
            </a:r>
            <a:endParaRPr lang="en-US" sz="1150" dirty="0"/>
          </a:p>
        </p:txBody>
      </p:sp>
      <p:sp>
        <p:nvSpPr>
          <p:cNvPr id="77" name="Text 64"/>
          <p:cNvSpPr/>
          <p:nvPr/>
        </p:nvSpPr>
        <p:spPr>
          <a:xfrm>
            <a:off x="8860536" y="2395728"/>
            <a:ext cx="120700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Searchable, chunked content with vector + semantic search</a:t>
            </a:r>
            <a:endParaRPr lang="en-US" sz="900" dirty="0"/>
          </a:p>
        </p:txBody>
      </p:sp>
      <p:sp>
        <p:nvSpPr>
          <p:cNvPr id="78" name="Shape 65"/>
          <p:cNvSpPr/>
          <p:nvPr/>
        </p:nvSpPr>
        <p:spPr>
          <a:xfrm>
            <a:off x="8611819" y="1662379"/>
            <a:ext cx="241402" cy="241402"/>
          </a:xfrm>
          <a:prstGeom prst="ellipse">
            <a:avLst/>
          </a:prstGeom>
          <a:solidFill>
            <a:srgbClr val="0078D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9" name="Text 66"/>
          <p:cNvSpPr/>
          <p:nvPr/>
        </p:nvSpPr>
        <p:spPr>
          <a:xfrm>
            <a:off x="8611819" y="1658356"/>
            <a:ext cx="241402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80" name="Shape 67"/>
          <p:cNvSpPr/>
          <p:nvPr/>
        </p:nvSpPr>
        <p:spPr>
          <a:xfrm>
            <a:off x="4663440" y="1897380"/>
            <a:ext cx="2971800" cy="9144"/>
          </a:xfrm>
          <a:prstGeom prst="line">
            <a:avLst/>
          </a:prstGeom>
          <a:noFill/>
          <a:ln w="19050">
            <a:solidFill>
              <a:srgbClr val="1B3A5C"/>
            </a:solidFill>
            <a:prstDash val="solid"/>
          </a:ln>
        </p:spPr>
      </p:sp>
      <p:sp>
        <p:nvSpPr>
          <p:cNvPr id="81" name="Shape 68"/>
          <p:cNvSpPr/>
          <p:nvPr/>
        </p:nvSpPr>
        <p:spPr>
          <a:xfrm>
            <a:off x="7635240" y="1897380"/>
            <a:ext cx="9144" cy="251460"/>
          </a:xfrm>
          <a:prstGeom prst="line">
            <a:avLst/>
          </a:prstGeom>
          <a:noFill/>
          <a:ln w="19050">
            <a:solidFill>
              <a:srgbClr val="1B3A5C"/>
            </a:solidFill>
            <a:prstDash val="solid"/>
          </a:ln>
        </p:spPr>
      </p:sp>
      <p:sp>
        <p:nvSpPr>
          <p:cNvPr id="82" name="Shape 69"/>
          <p:cNvSpPr/>
          <p:nvPr/>
        </p:nvSpPr>
        <p:spPr>
          <a:xfrm>
            <a:off x="7635240" y="2148840"/>
            <a:ext cx="1005840" cy="9144"/>
          </a:xfrm>
          <a:prstGeom prst="line">
            <a:avLst/>
          </a:prstGeom>
          <a:noFill/>
          <a:ln w="19050">
            <a:solidFill>
              <a:srgbClr val="1B3A5C"/>
            </a:solidFill>
            <a:prstDash val="solid"/>
          </a:ln>
        </p:spPr>
      </p:sp>
      <p:sp>
        <p:nvSpPr>
          <p:cNvPr id="83" name="Shape 70"/>
          <p:cNvSpPr/>
          <p:nvPr/>
        </p:nvSpPr>
        <p:spPr>
          <a:xfrm>
            <a:off x="8138160" y="3268980"/>
            <a:ext cx="320040" cy="9144"/>
          </a:xfrm>
          <a:prstGeom prst="line">
            <a:avLst/>
          </a:prstGeom>
          <a:noFill/>
          <a:ln w="19050">
            <a:solidFill>
              <a:srgbClr val="1B3A5C"/>
            </a:solidFill>
            <a:prstDash val="solid"/>
          </a:ln>
        </p:spPr>
      </p:sp>
      <p:sp>
        <p:nvSpPr>
          <p:cNvPr id="84" name="Shape 71"/>
          <p:cNvSpPr/>
          <p:nvPr/>
        </p:nvSpPr>
        <p:spPr>
          <a:xfrm>
            <a:off x="8458200" y="3268980"/>
            <a:ext cx="9144" cy="480060"/>
          </a:xfrm>
          <a:prstGeom prst="line">
            <a:avLst/>
          </a:prstGeom>
          <a:noFill/>
          <a:ln w="19050">
            <a:solidFill>
              <a:srgbClr val="1B3A5C"/>
            </a:solidFill>
            <a:prstDash val="solid"/>
          </a:ln>
        </p:spPr>
      </p:sp>
      <p:sp>
        <p:nvSpPr>
          <p:cNvPr id="85" name="Shape 72"/>
          <p:cNvSpPr/>
          <p:nvPr/>
        </p:nvSpPr>
        <p:spPr>
          <a:xfrm>
            <a:off x="8458200" y="3749040"/>
            <a:ext cx="182880" cy="9144"/>
          </a:xfrm>
          <a:prstGeom prst="line">
            <a:avLst/>
          </a:prstGeom>
          <a:noFill/>
          <a:ln w="19050">
            <a:solidFill>
              <a:srgbClr val="1B3A5C"/>
            </a:solidFill>
            <a:prstDash val="solid"/>
          </a:ln>
        </p:spPr>
      </p:sp>
      <p:sp>
        <p:nvSpPr>
          <p:cNvPr id="86" name="Shape 73"/>
          <p:cNvSpPr/>
          <p:nvPr/>
        </p:nvSpPr>
        <p:spPr>
          <a:xfrm>
            <a:off x="10469880" y="2377440"/>
            <a:ext cx="1353312" cy="155448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2225">
            <a:solidFill>
              <a:srgbClr val="0078D4"/>
            </a:solidFill>
            <a:prstDash val="solid"/>
          </a:ln>
          <a:effectLst>
            <a:outerShdw sx="100000" sy="100000" kx="0" ky="0" algn="bl" rotWithShape="0" blurRad="50800" dist="12700" dir="5400000">
              <a:srgbClr val="444444">
                <a:alpha val="25000"/>
              </a:srgbClr>
            </a:outerShdw>
          </a:effectLst>
        </p:spPr>
      </p:sp>
      <p:sp>
        <p:nvSpPr>
          <p:cNvPr id="87" name="Shape 74"/>
          <p:cNvSpPr/>
          <p:nvPr/>
        </p:nvSpPr>
        <p:spPr>
          <a:xfrm>
            <a:off x="10588752" y="2487168"/>
            <a:ext cx="292608" cy="292608"/>
          </a:xfrm>
          <a:prstGeom prst="roundRect">
            <a:avLst>
              <a:gd name="adj" fmla="val 12500"/>
            </a:avLst>
          </a:prstGeom>
          <a:solidFill>
            <a:srgbClr val="F3F2F1"/>
          </a:solidFill>
          <a:ln w="12700">
            <a:solidFill>
              <a:srgbClr val="A6A6A6"/>
            </a:solidFill>
            <a:prstDash val="dash"/>
          </a:ln>
        </p:spPr>
      </p:sp>
      <p:pic>
        <p:nvPicPr>
          <p:cNvPr id="8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41421" y="2539837"/>
            <a:ext cx="187269" cy="187269"/>
          </a:xfrm>
          <a:prstGeom prst="rect">
            <a:avLst/>
          </a:prstGeom>
        </p:spPr>
      </p:pic>
      <p:sp>
        <p:nvSpPr>
          <p:cNvPr id="89" name="Text 75"/>
          <p:cNvSpPr/>
          <p:nvPr/>
        </p:nvSpPr>
        <p:spPr>
          <a:xfrm>
            <a:off x="10991088" y="2459736"/>
            <a:ext cx="74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200" dirty="0"/>
          </a:p>
        </p:txBody>
      </p:sp>
      <p:sp>
        <p:nvSpPr>
          <p:cNvPr id="90" name="Text 76"/>
          <p:cNvSpPr/>
          <p:nvPr/>
        </p:nvSpPr>
        <p:spPr>
          <a:xfrm>
            <a:off x="10597896" y="2990088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Copilot Studio's native “Add knowledge → Azure AI Search” connector</a:t>
            </a:r>
            <a:endParaRPr lang="en-US" sz="900" dirty="0"/>
          </a:p>
        </p:txBody>
      </p:sp>
      <p:sp>
        <p:nvSpPr>
          <p:cNvPr id="91" name="Shape 77"/>
          <p:cNvSpPr/>
          <p:nvPr/>
        </p:nvSpPr>
        <p:spPr>
          <a:xfrm>
            <a:off x="10349179" y="2256739"/>
            <a:ext cx="241402" cy="241402"/>
          </a:xfrm>
          <a:prstGeom prst="ellipse">
            <a:avLst/>
          </a:prstGeom>
          <a:solidFill>
            <a:srgbClr val="0078D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2" name="Text 78"/>
          <p:cNvSpPr/>
          <p:nvPr/>
        </p:nvSpPr>
        <p:spPr>
          <a:xfrm>
            <a:off x="10349179" y="2252716"/>
            <a:ext cx="241402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93" name="Shape 79"/>
          <p:cNvSpPr/>
          <p:nvPr/>
        </p:nvSpPr>
        <p:spPr>
          <a:xfrm>
            <a:off x="10241280" y="3154680"/>
            <a:ext cx="182880" cy="9144"/>
          </a:xfrm>
          <a:prstGeom prst="line">
            <a:avLst/>
          </a:prstGeom>
          <a:noFill/>
          <a:ln w="19050">
            <a:solidFill>
              <a:srgbClr val="1B3A5C"/>
            </a:solidFill>
            <a:prstDash val="solid"/>
          </a:ln>
        </p:spPr>
      </p:sp>
      <p:sp>
        <p:nvSpPr>
          <p:cNvPr id="94" name="Shape 80"/>
          <p:cNvSpPr/>
          <p:nvPr/>
        </p:nvSpPr>
        <p:spPr>
          <a:xfrm>
            <a:off x="365760" y="5760720"/>
            <a:ext cx="11457432" cy="502920"/>
          </a:xfrm>
          <a:prstGeom prst="roundRect">
            <a:avLst>
              <a:gd name="adj" fmla="val 10909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95" name="Text 81"/>
          <p:cNvSpPr/>
          <p:nvPr/>
        </p:nvSpPr>
        <p:spPr>
          <a:xfrm>
            <a:off x="548640" y="576072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Cross-cutting: Azure Monitor &amp; Application Insights (observability)   ·   Managed Identity + Azure RBAC (no stored keys)</a:t>
            </a:r>
            <a:endParaRPr lang="en-US" sz="1200" dirty="0"/>
          </a:p>
        </p:txBody>
      </p:sp>
      <p:sp>
        <p:nvSpPr>
          <p:cNvPr id="96" name="Shape 82"/>
          <p:cNvSpPr/>
          <p:nvPr/>
        </p:nvSpPr>
        <p:spPr>
          <a:xfrm>
            <a:off x="365760" y="5367528"/>
            <a:ext cx="237744" cy="237744"/>
          </a:xfrm>
          <a:prstGeom prst="roundRect">
            <a:avLst>
              <a:gd name="adj" fmla="val 11538"/>
            </a:avLst>
          </a:prstGeom>
          <a:solidFill>
            <a:srgbClr val="F3F2F1"/>
          </a:solidFill>
          <a:ln w="12700">
            <a:solidFill>
              <a:srgbClr val="A6A6A6"/>
            </a:solidFill>
            <a:prstDash val="dash"/>
          </a:ln>
        </p:spPr>
      </p:sp>
      <p:sp>
        <p:nvSpPr>
          <p:cNvPr id="97" name="Text 83"/>
          <p:cNvSpPr/>
          <p:nvPr/>
        </p:nvSpPr>
        <p:spPr>
          <a:xfrm>
            <a:off x="685800" y="532180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placeholder for the official service/tool logo (add later)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2026-07-28T00:03:12Z</dcterms:created>
  <dcterms:modified xsi:type="dcterms:W3CDTF">2026-07-28T00:03:12Z</dcterms:modified>
</cp:coreProperties>
</file>